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Ata Göker, and my engineering thesis is titled: Implementation of Label-Free Teacher–Student Commissioning for Vibration-Signal-Based Fault Detection.
My supervisor is dr hab. inż. Rafał Zdunek. In the next six minutes I will explain the problem, the core idea, what I plan to build, the literature I rely on, and where I am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Machine learning models can detect bearing faults from vibration signals very well in the laboratory, where we know exactly which recordings are healthy and which are faulty.
But when the same model is installed on a new machine, conditions change: a different load, a different shaft speed, a different mounting. The vibration signals shift, and the model can lose accuracy. This is called domain shift.
The obvious fix is to collect and label new data for every installation. But that costs time and money, and on a freshly installed machine the true condition is simply not known. So my question is: can the model adapt using only unlabeled data from the new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answer is a teacher–student scheme. The student is a neural network first trained on labeled laboratory data. The teacher is a slowly moving average of the student's weights, so its predictions are more stable.
On the new machine, the teacher looks at each unlabeled vibration window and produces a provisional label, called a pseudo-label. If its confidence is above a threshold, for example ninety percent, the label is accepted.
The student then learns from three things: the lab data, the confident pseudo-labels, and a consistency requirement, meaning that a slightly changed version of the same signal should get the same prediction. Then the teacher is updated, and the loop repeats.
One important risk, which I will study, is that a confident prediction can still be wrong, and learning from wrong labels can reinforce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I will build. First, I will process raw one-dimensional vibration signals from the standard CWRU bearing dataset, cutting them into short windows. Second, a baseline convolutional neural network for four classes: healthy, inner-race fault, rolling-element fault and outer-race fault.
Third, the teacher–student adaptation loop. And fourth, just as important, a strict evaluation protocol: no target labels are used during adaptation or model selection. They are used only at the end, to measure the result honestly.
I will compare the adapted models with the baseline and with simpler alternatives. The goal is not guaranteed improvement, but credible evidence of when adaptation helps and when it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rely on four main sources. The first two were selected with my supervisor.
Forest and Fink, 2024, in Sensors, present the Calibrated Adaptive Teacher. It combines teacher–student self-training with calibrated confidence, and its public code is my closest implementation reference. It still uses source data during adaptation, so it is not source-free.
Yu and colleagues, 2024, in Reliability Engineering and System Safety, study source-free adaptation, where the original data is not available at deployment. This motivates the commissioning scenario.
Tarvainen and Valpola, 2017, introduced Mean Teacher, the weight-averaging idea behind my teacher. Finally, Smith and Randall, 2015, analyze the CWRU data and its anomalies, which tells me how to handle the dataset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so far: I have completed the theoretical groundwork and the literature review, and I have defined the experimental matrix and the evaluation protocol.
I am currently setting up the Python and PyTorch environment. The next steps are to verify the raw CWRU data, implement the baseline CNN, and then add the teacher–student loop. No models have been trained yet, so I have no results to report today.
Thank you for listening.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p:bgPr>
    </p:bg>
    <p:spTree>
      <p:nvGrpSpPr>
        <p:cNvPr id="1" name=""/>
        <p:cNvGrpSpPr/>
        <p:nvPr/>
      </p:nvGrpSpPr>
      <p:grpSpPr>
        <a:xfrm>
          <a:off x="0" y="0"/>
          <a:ext cx="0" cy="0"/>
          <a:chOff x="0" y="0"/>
          <a:chExt cx="0" cy="0"/>
        </a:xfrm>
      </p:grpSpPr>
      <p:sp>
        <p:nvSpPr>
          <p:cNvPr id="3" name="Text 0"/>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9FD6DB"/>
                </a:solidFill>
                <a:latin typeface="Calibri" pitchFamily="34" charset="0"/>
                <a:ea typeface="Calibri" pitchFamily="34" charset="-122"/>
                <a:cs typeface="Calibri" pitchFamily="34" charset="-120"/>
              </a:rPr>
              <a:t>1/6</a:t>
            </a:r>
            <a:endParaRPr lang="en-US" sz="1400" dirty="0"/>
          </a:p>
        </p:txBody>
      </p:sp>
      <p:sp>
        <p:nvSpPr>
          <p:cNvPr id="4" name="Text 1"/>
          <p:cNvSpPr txBox="1"/>
          <p:nvPr/>
        </p:nvSpPr>
        <p:spPr>
          <a:xfrm>
            <a:off x="548640" y="457200"/>
            <a:ext cx="7315200" cy="274320"/>
          </a:xfrm>
          <a:prstGeom prst="rect">
            <a:avLst/>
          </a:prstGeom>
          <a:noFill/>
          <a:ln/>
        </p:spPr>
        <p:txBody>
          <a:bodyPr wrap="square" lIns="0" tIns="0" rIns="0" bIns="0" rtlCol="0" anchor="t"/>
          <a:lstStyle/>
          <a:p>
            <a:pPr indent="0" marL="0">
              <a:buNone/>
            </a:pPr>
            <a:r>
              <a:rPr lang="en-US" sz="1200" b="1" spc="300" kern="0" dirty="0">
                <a:solidFill>
                  <a:srgbClr val="F2A33A"/>
                </a:solidFill>
                <a:latin typeface="Calibri" pitchFamily="34" charset="0"/>
                <a:ea typeface="Calibri" pitchFamily="34" charset="-122"/>
                <a:cs typeface="Calibri" pitchFamily="34" charset="-120"/>
              </a:rPr>
              <a:t>BSc THESIS  ·  ZERO PRESENTATION</a:t>
            </a:r>
            <a:endParaRPr lang="en-US" sz="1200" dirty="0"/>
          </a:p>
        </p:txBody>
      </p:sp>
      <p:sp>
        <p:nvSpPr>
          <p:cNvPr id="5" name="Text 2"/>
          <p:cNvSpPr txBox="1"/>
          <p:nvPr/>
        </p:nvSpPr>
        <p:spPr>
          <a:xfrm>
            <a:off x="548640" y="868680"/>
            <a:ext cx="8046720" cy="146304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Implementation of Label-Free Teacher–Student Commissioning for Vibration-Signal-Based Fault Detection</a:t>
            </a:r>
            <a:endParaRPr lang="en-US" sz="2800" dirty="0"/>
          </a:p>
        </p:txBody>
      </p:sp>
      <p:sp>
        <p:nvSpPr>
          <p:cNvPr id="6" name="Text 3"/>
          <p:cNvSpPr txBox="1"/>
          <p:nvPr/>
        </p:nvSpPr>
        <p:spPr>
          <a:xfrm>
            <a:off x="548640" y="2560320"/>
            <a:ext cx="7315200" cy="36576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Ata Göker</a:t>
            </a:r>
            <a:endParaRPr lang="en-US" sz="2000" dirty="0"/>
          </a:p>
        </p:txBody>
      </p:sp>
      <p:sp>
        <p:nvSpPr>
          <p:cNvPr id="7" name="Text 4"/>
          <p:cNvSpPr txBox="1"/>
          <p:nvPr/>
        </p:nvSpPr>
        <p:spPr>
          <a:xfrm>
            <a:off x="548640" y="2971800"/>
            <a:ext cx="7315200" cy="320040"/>
          </a:xfrm>
          <a:prstGeom prst="rect">
            <a:avLst/>
          </a:prstGeom>
          <a:noFill/>
          <a:ln/>
        </p:spPr>
        <p:txBody>
          <a:bodyPr wrap="square" lIns="0" tIns="0" rIns="0" bIns="0" rtlCol="0" anchor="t"/>
          <a:lstStyle/>
          <a:p>
            <a:pPr indent="0" marL="0">
              <a:buNone/>
            </a:pPr>
            <a:r>
              <a:rPr lang="en-US" sz="1600" dirty="0">
                <a:solidFill>
                  <a:srgbClr val="9FD6DB"/>
                </a:solidFill>
                <a:latin typeface="Calibri" pitchFamily="34" charset="0"/>
                <a:ea typeface="Calibri" pitchFamily="34" charset="-122"/>
                <a:cs typeface="Calibri" pitchFamily="34" charset="-120"/>
              </a:rPr>
              <a:t>Supervisor: dr hab. inż. Rafał Zdunek</a:t>
            </a:r>
            <a:endParaRPr lang="en-US" sz="1600" dirty="0"/>
          </a:p>
        </p:txBody>
      </p:sp>
      <p:sp>
        <p:nvSpPr>
          <p:cNvPr id="8" name="Text 5"/>
          <p:cNvSpPr txBox="1"/>
          <p:nvPr/>
        </p:nvSpPr>
        <p:spPr>
          <a:xfrm>
            <a:off x="548640" y="3383280"/>
            <a:ext cx="8046720" cy="274320"/>
          </a:xfrm>
          <a:prstGeom prst="rect">
            <a:avLst/>
          </a:prstGeom>
          <a:noFill/>
          <a:ln/>
        </p:spPr>
        <p:txBody>
          <a:bodyPr wrap="square" lIns="0" tIns="0" rIns="0" bIns="0" rtlCol="0" anchor="t"/>
          <a:lstStyle/>
          <a:p>
            <a:pPr indent="0" marL="0">
              <a:buNone/>
            </a:pPr>
            <a:r>
              <a:rPr lang="en-US" sz="1200" dirty="0">
                <a:solidFill>
                  <a:srgbClr val="A8BCC4"/>
                </a:solidFill>
                <a:latin typeface="Calibri" pitchFamily="34" charset="0"/>
                <a:ea typeface="Calibri" pitchFamily="34" charset="-122"/>
                <a:cs typeface="Calibri" pitchFamily="34" charset="-120"/>
              </a:rPr>
              <a:t>Wrocław University of Science and Technology  ·  Faculty of Electronics, Photonics and Microsystems</a:t>
            </a:r>
            <a:endParaRPr lang="en-US" sz="1200" dirty="0"/>
          </a:p>
        </p:txBody>
      </p:sp>
      <p:sp>
        <p:nvSpPr>
          <p:cNvPr id="9" name="Shape 6"/>
          <p:cNvSpPr/>
          <p:nvPr/>
        </p:nvSpPr>
        <p:spPr>
          <a:xfrm>
            <a:off x="548640" y="4471416"/>
            <a:ext cx="54864" cy="109728"/>
          </a:xfrm>
          <a:prstGeom prst="rect">
            <a:avLst/>
          </a:prstGeom>
          <a:solidFill>
            <a:srgbClr val="1F8E99"/>
          </a:solidFill>
          <a:ln w="12700">
            <a:solidFill>
              <a:srgbClr val="0B1F2A"/>
            </a:solidFill>
            <a:prstDash val="solid"/>
          </a:ln>
        </p:spPr>
      </p:sp>
      <p:sp>
        <p:nvSpPr>
          <p:cNvPr id="10" name="Shape 7"/>
          <p:cNvSpPr/>
          <p:nvPr/>
        </p:nvSpPr>
        <p:spPr>
          <a:xfrm>
            <a:off x="658368" y="4382514"/>
            <a:ext cx="54864" cy="287532"/>
          </a:xfrm>
          <a:prstGeom prst="rect">
            <a:avLst/>
          </a:prstGeom>
          <a:solidFill>
            <a:srgbClr val="1F8E99"/>
          </a:solidFill>
          <a:ln w="12700">
            <a:solidFill>
              <a:srgbClr val="0B1F2A"/>
            </a:solidFill>
            <a:prstDash val="solid"/>
          </a:ln>
        </p:spPr>
      </p:sp>
      <p:sp>
        <p:nvSpPr>
          <p:cNvPr id="11" name="Shape 8"/>
          <p:cNvSpPr/>
          <p:nvPr/>
        </p:nvSpPr>
        <p:spPr>
          <a:xfrm>
            <a:off x="768096" y="4295488"/>
            <a:ext cx="54864" cy="461583"/>
          </a:xfrm>
          <a:prstGeom prst="rect">
            <a:avLst/>
          </a:prstGeom>
          <a:solidFill>
            <a:srgbClr val="1F8E99"/>
          </a:solidFill>
          <a:ln w="12700">
            <a:solidFill>
              <a:srgbClr val="0B1F2A"/>
            </a:solidFill>
            <a:prstDash val="solid"/>
          </a:ln>
        </p:spPr>
      </p:sp>
      <p:sp>
        <p:nvSpPr>
          <p:cNvPr id="12" name="Shape 9"/>
          <p:cNvSpPr/>
          <p:nvPr/>
        </p:nvSpPr>
        <p:spPr>
          <a:xfrm>
            <a:off x="877824" y="4221901"/>
            <a:ext cx="54864" cy="608758"/>
          </a:xfrm>
          <a:prstGeom prst="rect">
            <a:avLst/>
          </a:prstGeom>
          <a:solidFill>
            <a:srgbClr val="1F8E99"/>
          </a:solidFill>
          <a:ln w="12700">
            <a:solidFill>
              <a:srgbClr val="0B1F2A"/>
            </a:solidFill>
            <a:prstDash val="solid"/>
          </a:ln>
        </p:spPr>
      </p:sp>
      <p:sp>
        <p:nvSpPr>
          <p:cNvPr id="13" name="Shape 10"/>
          <p:cNvSpPr/>
          <p:nvPr/>
        </p:nvSpPr>
        <p:spPr>
          <a:xfrm>
            <a:off x="987552" y="4172276"/>
            <a:ext cx="54864" cy="708007"/>
          </a:xfrm>
          <a:prstGeom prst="rect">
            <a:avLst/>
          </a:prstGeom>
          <a:solidFill>
            <a:srgbClr val="1F8E99"/>
          </a:solidFill>
          <a:ln w="12700">
            <a:solidFill>
              <a:srgbClr val="0B1F2A"/>
            </a:solidFill>
            <a:prstDash val="solid"/>
          </a:ln>
        </p:spPr>
      </p:sp>
      <p:sp>
        <p:nvSpPr>
          <p:cNvPr id="14" name="Shape 11"/>
          <p:cNvSpPr/>
          <p:nvPr/>
        </p:nvSpPr>
        <p:spPr>
          <a:xfrm>
            <a:off x="1097280" y="4154516"/>
            <a:ext cx="54864" cy="743528"/>
          </a:xfrm>
          <a:prstGeom prst="rect">
            <a:avLst/>
          </a:prstGeom>
          <a:solidFill>
            <a:srgbClr val="1F8E99"/>
          </a:solidFill>
          <a:ln w="12700">
            <a:solidFill>
              <a:srgbClr val="0B1F2A"/>
            </a:solidFill>
            <a:prstDash val="solid"/>
          </a:ln>
        </p:spPr>
      </p:sp>
      <p:sp>
        <p:nvSpPr>
          <p:cNvPr id="15" name="Shape 12"/>
          <p:cNvSpPr/>
          <p:nvPr/>
        </p:nvSpPr>
        <p:spPr>
          <a:xfrm>
            <a:off x="1207008" y="4172635"/>
            <a:ext cx="54864" cy="707290"/>
          </a:xfrm>
          <a:prstGeom prst="rect">
            <a:avLst/>
          </a:prstGeom>
          <a:solidFill>
            <a:srgbClr val="1F8E99"/>
          </a:solidFill>
          <a:ln w="12700">
            <a:solidFill>
              <a:srgbClr val="0B1F2A"/>
            </a:solidFill>
            <a:prstDash val="solid"/>
          </a:ln>
        </p:spPr>
      </p:sp>
      <p:sp>
        <p:nvSpPr>
          <p:cNvPr id="16" name="Shape 13"/>
          <p:cNvSpPr/>
          <p:nvPr/>
        </p:nvSpPr>
        <p:spPr>
          <a:xfrm>
            <a:off x="1316736" y="4226027"/>
            <a:ext cx="54864" cy="600507"/>
          </a:xfrm>
          <a:prstGeom prst="rect">
            <a:avLst/>
          </a:prstGeom>
          <a:solidFill>
            <a:srgbClr val="1F8E99"/>
          </a:solidFill>
          <a:ln w="12700">
            <a:solidFill>
              <a:srgbClr val="0B1F2A"/>
            </a:solidFill>
            <a:prstDash val="solid"/>
          </a:ln>
        </p:spPr>
      </p:sp>
      <p:sp>
        <p:nvSpPr>
          <p:cNvPr id="17" name="Shape 14"/>
          <p:cNvSpPr/>
          <p:nvPr/>
        </p:nvSpPr>
        <p:spPr>
          <a:xfrm>
            <a:off x="1426464" y="4309379"/>
            <a:ext cx="54864" cy="433802"/>
          </a:xfrm>
          <a:prstGeom prst="rect">
            <a:avLst/>
          </a:prstGeom>
          <a:solidFill>
            <a:srgbClr val="1F8E99"/>
          </a:solidFill>
          <a:ln w="12700">
            <a:solidFill>
              <a:srgbClr val="0B1F2A"/>
            </a:solidFill>
            <a:prstDash val="solid"/>
          </a:ln>
        </p:spPr>
      </p:sp>
      <p:sp>
        <p:nvSpPr>
          <p:cNvPr id="18" name="Shape 15"/>
          <p:cNvSpPr/>
          <p:nvPr/>
        </p:nvSpPr>
        <p:spPr>
          <a:xfrm>
            <a:off x="1536192" y="4413281"/>
            <a:ext cx="54864" cy="225999"/>
          </a:xfrm>
          <a:prstGeom prst="rect">
            <a:avLst/>
          </a:prstGeom>
          <a:solidFill>
            <a:srgbClr val="F2A33A"/>
          </a:solidFill>
          <a:ln w="12700">
            <a:solidFill>
              <a:srgbClr val="0B1F2A"/>
            </a:solidFill>
            <a:prstDash val="solid"/>
          </a:ln>
        </p:spPr>
      </p:sp>
      <p:sp>
        <p:nvSpPr>
          <p:cNvPr id="19" name="Shape 16"/>
          <p:cNvSpPr/>
          <p:nvPr/>
        </p:nvSpPr>
        <p:spPr>
          <a:xfrm>
            <a:off x="1645920" y="4417400"/>
            <a:ext cx="54864" cy="217761"/>
          </a:xfrm>
          <a:prstGeom prst="rect">
            <a:avLst/>
          </a:prstGeom>
          <a:solidFill>
            <a:srgbClr val="1F8E99"/>
          </a:solidFill>
          <a:ln w="12700">
            <a:solidFill>
              <a:srgbClr val="0B1F2A"/>
            </a:solidFill>
            <a:prstDash val="solid"/>
          </a:ln>
        </p:spPr>
      </p:sp>
      <p:sp>
        <p:nvSpPr>
          <p:cNvPr id="20" name="Shape 17"/>
          <p:cNvSpPr/>
          <p:nvPr/>
        </p:nvSpPr>
        <p:spPr>
          <a:xfrm>
            <a:off x="1755648" y="4310537"/>
            <a:ext cx="54864" cy="431486"/>
          </a:xfrm>
          <a:prstGeom prst="rect">
            <a:avLst/>
          </a:prstGeom>
          <a:solidFill>
            <a:srgbClr val="1F8E99"/>
          </a:solidFill>
          <a:ln w="12700">
            <a:solidFill>
              <a:srgbClr val="0B1F2A"/>
            </a:solidFill>
            <a:prstDash val="solid"/>
          </a:ln>
        </p:spPr>
      </p:sp>
      <p:sp>
        <p:nvSpPr>
          <p:cNvPr id="21" name="Shape 18"/>
          <p:cNvSpPr/>
          <p:nvPr/>
        </p:nvSpPr>
        <p:spPr>
          <a:xfrm>
            <a:off x="1865376" y="4221899"/>
            <a:ext cx="54864" cy="608762"/>
          </a:xfrm>
          <a:prstGeom prst="rect">
            <a:avLst/>
          </a:prstGeom>
          <a:solidFill>
            <a:srgbClr val="1F8E99"/>
          </a:solidFill>
          <a:ln w="12700">
            <a:solidFill>
              <a:srgbClr val="0B1F2A"/>
            </a:solidFill>
            <a:prstDash val="solid"/>
          </a:ln>
        </p:spPr>
      </p:sp>
      <p:sp>
        <p:nvSpPr>
          <p:cNvPr id="22" name="Shape 19"/>
          <p:cNvSpPr/>
          <p:nvPr/>
        </p:nvSpPr>
        <p:spPr>
          <a:xfrm>
            <a:off x="1975104" y="4162055"/>
            <a:ext cx="54864" cy="728451"/>
          </a:xfrm>
          <a:prstGeom prst="rect">
            <a:avLst/>
          </a:prstGeom>
          <a:solidFill>
            <a:srgbClr val="1F8E99"/>
          </a:solidFill>
          <a:ln w="12700">
            <a:solidFill>
              <a:srgbClr val="0B1F2A"/>
            </a:solidFill>
            <a:prstDash val="solid"/>
          </a:ln>
        </p:spPr>
      </p:sp>
      <p:sp>
        <p:nvSpPr>
          <p:cNvPr id="23" name="Shape 20"/>
          <p:cNvSpPr/>
          <p:nvPr/>
        </p:nvSpPr>
        <p:spPr>
          <a:xfrm>
            <a:off x="2084832" y="4137777"/>
            <a:ext cx="54864" cy="777006"/>
          </a:xfrm>
          <a:prstGeom prst="rect">
            <a:avLst/>
          </a:prstGeom>
          <a:solidFill>
            <a:srgbClr val="1F8E99"/>
          </a:solidFill>
          <a:ln w="12700">
            <a:solidFill>
              <a:srgbClr val="0B1F2A"/>
            </a:solidFill>
            <a:prstDash val="solid"/>
          </a:ln>
        </p:spPr>
      </p:sp>
      <p:sp>
        <p:nvSpPr>
          <p:cNvPr id="24" name="Shape 21"/>
          <p:cNvSpPr/>
          <p:nvPr/>
        </p:nvSpPr>
        <p:spPr>
          <a:xfrm>
            <a:off x="2194560" y="4151172"/>
            <a:ext cx="54864" cy="750216"/>
          </a:xfrm>
          <a:prstGeom prst="rect">
            <a:avLst/>
          </a:prstGeom>
          <a:solidFill>
            <a:srgbClr val="1F8E99"/>
          </a:solidFill>
          <a:ln w="12700">
            <a:solidFill>
              <a:srgbClr val="0B1F2A"/>
            </a:solidFill>
            <a:prstDash val="solid"/>
          </a:ln>
        </p:spPr>
      </p:sp>
      <p:sp>
        <p:nvSpPr>
          <p:cNvPr id="25" name="Shape 22"/>
          <p:cNvSpPr/>
          <p:nvPr/>
        </p:nvSpPr>
        <p:spPr>
          <a:xfrm>
            <a:off x="2304288" y="4199473"/>
            <a:ext cx="54864" cy="653615"/>
          </a:xfrm>
          <a:prstGeom prst="rect">
            <a:avLst/>
          </a:prstGeom>
          <a:solidFill>
            <a:srgbClr val="1F8E99"/>
          </a:solidFill>
          <a:ln w="12700">
            <a:solidFill>
              <a:srgbClr val="0B1F2A"/>
            </a:solidFill>
            <a:prstDash val="solid"/>
          </a:ln>
        </p:spPr>
      </p:sp>
      <p:sp>
        <p:nvSpPr>
          <p:cNvPr id="26" name="Shape 23"/>
          <p:cNvSpPr/>
          <p:nvPr/>
        </p:nvSpPr>
        <p:spPr>
          <a:xfrm>
            <a:off x="2414016" y="4275536"/>
            <a:ext cx="54864" cy="501489"/>
          </a:xfrm>
          <a:prstGeom prst="rect">
            <a:avLst/>
          </a:prstGeom>
          <a:solidFill>
            <a:srgbClr val="1F8E99"/>
          </a:solidFill>
          <a:ln w="12700">
            <a:solidFill>
              <a:srgbClr val="0B1F2A"/>
            </a:solidFill>
            <a:prstDash val="solid"/>
          </a:ln>
        </p:spPr>
      </p:sp>
      <p:sp>
        <p:nvSpPr>
          <p:cNvPr id="27" name="Shape 24"/>
          <p:cNvSpPr/>
          <p:nvPr/>
        </p:nvSpPr>
        <p:spPr>
          <a:xfrm>
            <a:off x="2523744" y="4368944"/>
            <a:ext cx="54864" cy="314672"/>
          </a:xfrm>
          <a:prstGeom prst="rect">
            <a:avLst/>
          </a:prstGeom>
          <a:solidFill>
            <a:srgbClr val="1F8E99"/>
          </a:solidFill>
          <a:ln w="12700">
            <a:solidFill>
              <a:srgbClr val="0B1F2A"/>
            </a:solidFill>
            <a:prstDash val="solid"/>
          </a:ln>
        </p:spPr>
      </p:sp>
      <p:sp>
        <p:nvSpPr>
          <p:cNvPr id="28" name="Shape 25"/>
          <p:cNvSpPr/>
          <p:nvPr/>
        </p:nvSpPr>
        <p:spPr>
          <a:xfrm>
            <a:off x="2633472" y="4467544"/>
            <a:ext cx="54864" cy="117472"/>
          </a:xfrm>
          <a:prstGeom prst="rect">
            <a:avLst/>
          </a:prstGeom>
          <a:solidFill>
            <a:srgbClr val="1F8E99"/>
          </a:solidFill>
          <a:ln w="12700">
            <a:solidFill>
              <a:srgbClr val="0B1F2A"/>
            </a:solidFill>
            <a:prstDash val="solid"/>
          </a:ln>
        </p:spPr>
      </p:sp>
      <p:sp>
        <p:nvSpPr>
          <p:cNvPr id="29" name="Shape 26"/>
          <p:cNvSpPr/>
          <p:nvPr/>
        </p:nvSpPr>
        <p:spPr>
          <a:xfrm>
            <a:off x="2743200" y="4383657"/>
            <a:ext cx="54864" cy="285247"/>
          </a:xfrm>
          <a:prstGeom prst="rect">
            <a:avLst/>
          </a:prstGeom>
          <a:solidFill>
            <a:srgbClr val="1F8E99"/>
          </a:solidFill>
          <a:ln w="12700">
            <a:solidFill>
              <a:srgbClr val="0B1F2A"/>
            </a:solidFill>
            <a:prstDash val="solid"/>
          </a:ln>
        </p:spPr>
      </p:sp>
      <p:sp>
        <p:nvSpPr>
          <p:cNvPr id="30" name="Shape 27"/>
          <p:cNvSpPr/>
          <p:nvPr/>
        </p:nvSpPr>
        <p:spPr>
          <a:xfrm>
            <a:off x="2852928" y="4309497"/>
            <a:ext cx="54864" cy="433566"/>
          </a:xfrm>
          <a:prstGeom prst="rect">
            <a:avLst/>
          </a:prstGeom>
          <a:solidFill>
            <a:srgbClr val="1F8E99"/>
          </a:solidFill>
          <a:ln w="12700">
            <a:solidFill>
              <a:srgbClr val="0B1F2A"/>
            </a:solidFill>
            <a:prstDash val="solid"/>
          </a:ln>
        </p:spPr>
      </p:sp>
      <p:sp>
        <p:nvSpPr>
          <p:cNvPr id="31" name="Shape 28"/>
          <p:cNvSpPr/>
          <p:nvPr/>
        </p:nvSpPr>
        <p:spPr>
          <a:xfrm>
            <a:off x="2962656" y="4260309"/>
            <a:ext cx="54864" cy="531941"/>
          </a:xfrm>
          <a:prstGeom prst="rect">
            <a:avLst/>
          </a:prstGeom>
          <a:solidFill>
            <a:srgbClr val="1F8E99"/>
          </a:solidFill>
          <a:ln w="12700">
            <a:solidFill>
              <a:srgbClr val="0B1F2A"/>
            </a:solidFill>
            <a:prstDash val="solid"/>
          </a:ln>
        </p:spPr>
      </p:sp>
      <p:sp>
        <p:nvSpPr>
          <p:cNvPr id="32" name="Shape 29"/>
          <p:cNvSpPr/>
          <p:nvPr/>
        </p:nvSpPr>
        <p:spPr>
          <a:xfrm>
            <a:off x="3072384" y="4239745"/>
            <a:ext cx="54864" cy="573071"/>
          </a:xfrm>
          <a:prstGeom prst="rect">
            <a:avLst/>
          </a:prstGeom>
          <a:solidFill>
            <a:srgbClr val="1F8E99"/>
          </a:solidFill>
          <a:ln w="12700">
            <a:solidFill>
              <a:srgbClr val="0B1F2A"/>
            </a:solidFill>
            <a:prstDash val="solid"/>
          </a:ln>
        </p:spPr>
      </p:sp>
      <p:sp>
        <p:nvSpPr>
          <p:cNvPr id="33" name="Shape 30"/>
          <p:cNvSpPr/>
          <p:nvPr/>
        </p:nvSpPr>
        <p:spPr>
          <a:xfrm>
            <a:off x="3182112" y="4247368"/>
            <a:ext cx="54864" cy="557825"/>
          </a:xfrm>
          <a:prstGeom prst="rect">
            <a:avLst/>
          </a:prstGeom>
          <a:solidFill>
            <a:srgbClr val="1F8E99"/>
          </a:solidFill>
          <a:ln w="12700">
            <a:solidFill>
              <a:srgbClr val="0B1F2A"/>
            </a:solidFill>
            <a:prstDash val="solid"/>
          </a:ln>
        </p:spPr>
      </p:sp>
      <p:sp>
        <p:nvSpPr>
          <p:cNvPr id="34" name="Shape 31"/>
          <p:cNvSpPr/>
          <p:nvPr/>
        </p:nvSpPr>
        <p:spPr>
          <a:xfrm>
            <a:off x="3291840" y="4279033"/>
            <a:ext cx="54864" cy="494494"/>
          </a:xfrm>
          <a:prstGeom prst="rect">
            <a:avLst/>
          </a:prstGeom>
          <a:solidFill>
            <a:srgbClr val="1F8E99"/>
          </a:solidFill>
          <a:ln w="12700">
            <a:solidFill>
              <a:srgbClr val="0B1F2A"/>
            </a:solidFill>
            <a:prstDash val="solid"/>
          </a:ln>
        </p:spPr>
      </p:sp>
      <p:sp>
        <p:nvSpPr>
          <p:cNvPr id="35" name="Shape 32"/>
          <p:cNvSpPr/>
          <p:nvPr/>
        </p:nvSpPr>
        <p:spPr>
          <a:xfrm>
            <a:off x="3401568" y="4327783"/>
            <a:ext cx="54864" cy="396993"/>
          </a:xfrm>
          <a:prstGeom prst="rect">
            <a:avLst/>
          </a:prstGeom>
          <a:solidFill>
            <a:srgbClr val="1F8E99"/>
          </a:solidFill>
          <a:ln w="12700">
            <a:solidFill>
              <a:srgbClr val="0B1F2A"/>
            </a:solidFill>
            <a:prstDash val="solid"/>
          </a:ln>
        </p:spPr>
      </p:sp>
      <p:sp>
        <p:nvSpPr>
          <p:cNvPr id="36" name="Shape 33"/>
          <p:cNvSpPr/>
          <p:nvPr/>
        </p:nvSpPr>
        <p:spPr>
          <a:xfrm>
            <a:off x="3511296" y="4385105"/>
            <a:ext cx="54864" cy="282350"/>
          </a:xfrm>
          <a:prstGeom prst="rect">
            <a:avLst/>
          </a:prstGeom>
          <a:solidFill>
            <a:srgbClr val="1F8E99"/>
          </a:solidFill>
          <a:ln w="12700">
            <a:solidFill>
              <a:srgbClr val="0B1F2A"/>
            </a:solidFill>
            <a:prstDash val="solid"/>
          </a:ln>
        </p:spPr>
      </p:sp>
      <p:sp>
        <p:nvSpPr>
          <p:cNvPr id="37" name="Shape 34"/>
          <p:cNvSpPr/>
          <p:nvPr/>
        </p:nvSpPr>
        <p:spPr>
          <a:xfrm>
            <a:off x="3621024" y="4442318"/>
            <a:ext cx="54864" cy="167925"/>
          </a:xfrm>
          <a:prstGeom prst="rect">
            <a:avLst/>
          </a:prstGeom>
          <a:solidFill>
            <a:srgbClr val="1F8E99"/>
          </a:solidFill>
          <a:ln w="12700">
            <a:solidFill>
              <a:srgbClr val="0B1F2A"/>
            </a:solidFill>
            <a:prstDash val="solid"/>
          </a:ln>
        </p:spPr>
      </p:sp>
      <p:sp>
        <p:nvSpPr>
          <p:cNvPr id="38" name="Shape 35"/>
          <p:cNvSpPr/>
          <p:nvPr/>
        </p:nvSpPr>
        <p:spPr>
          <a:xfrm>
            <a:off x="3730752" y="4447221"/>
            <a:ext cx="54864" cy="158119"/>
          </a:xfrm>
          <a:prstGeom prst="rect">
            <a:avLst/>
          </a:prstGeom>
          <a:solidFill>
            <a:srgbClr val="1F8E99"/>
          </a:solidFill>
          <a:ln w="12700">
            <a:solidFill>
              <a:srgbClr val="0B1F2A"/>
            </a:solidFill>
            <a:prstDash val="solid"/>
          </a:ln>
        </p:spPr>
      </p:sp>
      <p:sp>
        <p:nvSpPr>
          <p:cNvPr id="39" name="Shape 36"/>
          <p:cNvSpPr/>
          <p:nvPr/>
        </p:nvSpPr>
        <p:spPr>
          <a:xfrm>
            <a:off x="3840480" y="4387204"/>
            <a:ext cx="54864" cy="278152"/>
          </a:xfrm>
          <a:prstGeom prst="rect">
            <a:avLst/>
          </a:prstGeom>
          <a:solidFill>
            <a:srgbClr val="1F8E99"/>
          </a:solidFill>
          <a:ln w="12700">
            <a:solidFill>
              <a:srgbClr val="0B1F2A"/>
            </a:solidFill>
            <a:prstDash val="solid"/>
          </a:ln>
        </p:spPr>
      </p:sp>
      <p:sp>
        <p:nvSpPr>
          <p:cNvPr id="40" name="Shape 37"/>
          <p:cNvSpPr/>
          <p:nvPr/>
        </p:nvSpPr>
        <p:spPr>
          <a:xfrm>
            <a:off x="3950208" y="4326734"/>
            <a:ext cx="54864" cy="399092"/>
          </a:xfrm>
          <a:prstGeom prst="rect">
            <a:avLst/>
          </a:prstGeom>
          <a:solidFill>
            <a:srgbClr val="1F8E99"/>
          </a:solidFill>
          <a:ln w="12700">
            <a:solidFill>
              <a:srgbClr val="0B1F2A"/>
            </a:solidFill>
            <a:prstDash val="solid"/>
          </a:ln>
        </p:spPr>
      </p:sp>
      <p:sp>
        <p:nvSpPr>
          <p:cNvPr id="41" name="Shape 38"/>
          <p:cNvSpPr/>
          <p:nvPr/>
        </p:nvSpPr>
        <p:spPr>
          <a:xfrm>
            <a:off x="4059936" y="4274754"/>
            <a:ext cx="54864" cy="503052"/>
          </a:xfrm>
          <a:prstGeom prst="rect">
            <a:avLst/>
          </a:prstGeom>
          <a:solidFill>
            <a:srgbClr val="1F8E99"/>
          </a:solidFill>
          <a:ln w="12700">
            <a:solidFill>
              <a:srgbClr val="0B1F2A"/>
            </a:solidFill>
            <a:prstDash val="solid"/>
          </a:ln>
        </p:spPr>
      </p:sp>
      <p:sp>
        <p:nvSpPr>
          <p:cNvPr id="42" name="Shape 39"/>
          <p:cNvSpPr/>
          <p:nvPr/>
        </p:nvSpPr>
        <p:spPr>
          <a:xfrm>
            <a:off x="4169664" y="4240060"/>
            <a:ext cx="54864" cy="572441"/>
          </a:xfrm>
          <a:prstGeom prst="rect">
            <a:avLst/>
          </a:prstGeom>
          <a:solidFill>
            <a:srgbClr val="F2A33A"/>
          </a:solidFill>
          <a:ln w="12700">
            <a:solidFill>
              <a:srgbClr val="0B1F2A"/>
            </a:solidFill>
            <a:prstDash val="solid"/>
          </a:ln>
        </p:spPr>
      </p:sp>
      <p:sp>
        <p:nvSpPr>
          <p:cNvPr id="43" name="Shape 40"/>
          <p:cNvSpPr/>
          <p:nvPr/>
        </p:nvSpPr>
        <p:spPr>
          <a:xfrm>
            <a:off x="4279392" y="4229876"/>
            <a:ext cx="54864" cy="592808"/>
          </a:xfrm>
          <a:prstGeom prst="rect">
            <a:avLst/>
          </a:prstGeom>
          <a:solidFill>
            <a:srgbClr val="1F8E99"/>
          </a:solidFill>
          <a:ln w="12700">
            <a:solidFill>
              <a:srgbClr val="0B1F2A"/>
            </a:solidFill>
            <a:prstDash val="solid"/>
          </a:ln>
        </p:spPr>
      </p:sp>
      <p:sp>
        <p:nvSpPr>
          <p:cNvPr id="44" name="Shape 41"/>
          <p:cNvSpPr/>
          <p:nvPr/>
        </p:nvSpPr>
        <p:spPr>
          <a:xfrm>
            <a:off x="4389120" y="4248579"/>
            <a:ext cx="54864" cy="555402"/>
          </a:xfrm>
          <a:prstGeom prst="rect">
            <a:avLst/>
          </a:prstGeom>
          <a:solidFill>
            <a:srgbClr val="1F8E99"/>
          </a:solidFill>
          <a:ln w="12700">
            <a:solidFill>
              <a:srgbClr val="0B1F2A"/>
            </a:solidFill>
            <a:prstDash val="solid"/>
          </a:ln>
        </p:spPr>
      </p:sp>
      <p:sp>
        <p:nvSpPr>
          <p:cNvPr id="45" name="Shape 42"/>
          <p:cNvSpPr/>
          <p:nvPr/>
        </p:nvSpPr>
        <p:spPr>
          <a:xfrm>
            <a:off x="4498848" y="4296777"/>
            <a:ext cx="54864" cy="459006"/>
          </a:xfrm>
          <a:prstGeom prst="rect">
            <a:avLst/>
          </a:prstGeom>
          <a:solidFill>
            <a:srgbClr val="1F8E99"/>
          </a:solidFill>
          <a:ln w="12700">
            <a:solidFill>
              <a:srgbClr val="0B1F2A"/>
            </a:solidFill>
            <a:prstDash val="solid"/>
          </a:ln>
        </p:spPr>
      </p:sp>
      <p:sp>
        <p:nvSpPr>
          <p:cNvPr id="46" name="Shape 43"/>
          <p:cNvSpPr/>
          <p:nvPr/>
        </p:nvSpPr>
        <p:spPr>
          <a:xfrm>
            <a:off x="4608576" y="4370918"/>
            <a:ext cx="54864" cy="310724"/>
          </a:xfrm>
          <a:prstGeom prst="rect">
            <a:avLst/>
          </a:prstGeom>
          <a:solidFill>
            <a:srgbClr val="1F8E99"/>
          </a:solidFill>
          <a:ln w="12700">
            <a:solidFill>
              <a:srgbClr val="0B1F2A"/>
            </a:solidFill>
            <a:prstDash val="solid"/>
          </a:ln>
        </p:spPr>
      </p:sp>
      <p:sp>
        <p:nvSpPr>
          <p:cNvPr id="47" name="Shape 44"/>
          <p:cNvSpPr/>
          <p:nvPr/>
        </p:nvSpPr>
        <p:spPr>
          <a:xfrm>
            <a:off x="4718304" y="4463520"/>
            <a:ext cx="54864" cy="125521"/>
          </a:xfrm>
          <a:prstGeom prst="rect">
            <a:avLst/>
          </a:prstGeom>
          <a:solidFill>
            <a:srgbClr val="1F8E99"/>
          </a:solidFill>
          <a:ln w="12700">
            <a:solidFill>
              <a:srgbClr val="0B1F2A"/>
            </a:solidFill>
            <a:prstDash val="solid"/>
          </a:ln>
        </p:spPr>
      </p:sp>
      <p:sp>
        <p:nvSpPr>
          <p:cNvPr id="48" name="Shape 45"/>
          <p:cNvSpPr/>
          <p:nvPr/>
        </p:nvSpPr>
        <p:spPr>
          <a:xfrm>
            <a:off x="4828032" y="4378819"/>
            <a:ext cx="54864" cy="294922"/>
          </a:xfrm>
          <a:prstGeom prst="rect">
            <a:avLst/>
          </a:prstGeom>
          <a:solidFill>
            <a:srgbClr val="1F8E99"/>
          </a:solidFill>
          <a:ln w="12700">
            <a:solidFill>
              <a:srgbClr val="0B1F2A"/>
            </a:solidFill>
            <a:prstDash val="solid"/>
          </a:ln>
        </p:spPr>
      </p:sp>
      <p:sp>
        <p:nvSpPr>
          <p:cNvPr id="49" name="Shape 46"/>
          <p:cNvSpPr/>
          <p:nvPr/>
        </p:nvSpPr>
        <p:spPr>
          <a:xfrm>
            <a:off x="4937760" y="4282734"/>
            <a:ext cx="54864" cy="487092"/>
          </a:xfrm>
          <a:prstGeom prst="rect">
            <a:avLst/>
          </a:prstGeom>
          <a:solidFill>
            <a:srgbClr val="1F8E99"/>
          </a:solidFill>
          <a:ln w="12700">
            <a:solidFill>
              <a:srgbClr val="0B1F2A"/>
            </a:solidFill>
            <a:prstDash val="solid"/>
          </a:ln>
        </p:spPr>
      </p:sp>
      <p:sp>
        <p:nvSpPr>
          <p:cNvPr id="50" name="Shape 47"/>
          <p:cNvSpPr/>
          <p:nvPr/>
        </p:nvSpPr>
        <p:spPr>
          <a:xfrm>
            <a:off x="5047488" y="4203416"/>
            <a:ext cx="54864" cy="645728"/>
          </a:xfrm>
          <a:prstGeom prst="rect">
            <a:avLst/>
          </a:prstGeom>
          <a:solidFill>
            <a:srgbClr val="1F8E99"/>
          </a:solidFill>
          <a:ln w="12700">
            <a:solidFill>
              <a:srgbClr val="0B1F2A"/>
            </a:solidFill>
            <a:prstDash val="solid"/>
          </a:ln>
        </p:spPr>
      </p:sp>
      <p:sp>
        <p:nvSpPr>
          <p:cNvPr id="51" name="Shape 48"/>
          <p:cNvSpPr/>
          <p:nvPr/>
        </p:nvSpPr>
        <p:spPr>
          <a:xfrm>
            <a:off x="5157216" y="4151532"/>
            <a:ext cx="54864" cy="749497"/>
          </a:xfrm>
          <a:prstGeom prst="rect">
            <a:avLst/>
          </a:prstGeom>
          <a:solidFill>
            <a:srgbClr val="1F8E99"/>
          </a:solidFill>
          <a:ln w="12700">
            <a:solidFill>
              <a:srgbClr val="0B1F2A"/>
            </a:solidFill>
            <a:prstDash val="solid"/>
          </a:ln>
        </p:spPr>
      </p:sp>
      <p:sp>
        <p:nvSpPr>
          <p:cNvPr id="52" name="Shape 49"/>
          <p:cNvSpPr/>
          <p:nvPr/>
        </p:nvSpPr>
        <p:spPr>
          <a:xfrm>
            <a:off x="5266944" y="4134500"/>
            <a:ext cx="54864" cy="783560"/>
          </a:xfrm>
          <a:prstGeom prst="rect">
            <a:avLst/>
          </a:prstGeom>
          <a:solidFill>
            <a:srgbClr val="1F8E99"/>
          </a:solidFill>
          <a:ln w="12700">
            <a:solidFill>
              <a:srgbClr val="0B1F2A"/>
            </a:solidFill>
            <a:prstDash val="solid"/>
          </a:ln>
        </p:spPr>
      </p:sp>
      <p:sp>
        <p:nvSpPr>
          <p:cNvPr id="53" name="Shape 50"/>
          <p:cNvSpPr/>
          <p:nvPr/>
        </p:nvSpPr>
        <p:spPr>
          <a:xfrm>
            <a:off x="5376672" y="4155366"/>
            <a:ext cx="54864" cy="741828"/>
          </a:xfrm>
          <a:prstGeom prst="rect">
            <a:avLst/>
          </a:prstGeom>
          <a:solidFill>
            <a:srgbClr val="1F8E99"/>
          </a:solidFill>
          <a:ln w="12700">
            <a:solidFill>
              <a:srgbClr val="0B1F2A"/>
            </a:solidFill>
            <a:prstDash val="solid"/>
          </a:ln>
        </p:spPr>
      </p:sp>
      <p:sp>
        <p:nvSpPr>
          <p:cNvPr id="54" name="Shape 51"/>
          <p:cNvSpPr/>
          <p:nvPr/>
        </p:nvSpPr>
        <p:spPr>
          <a:xfrm>
            <a:off x="5486400" y="4212286"/>
            <a:ext cx="54864" cy="627989"/>
          </a:xfrm>
          <a:prstGeom prst="rect">
            <a:avLst/>
          </a:prstGeom>
          <a:solidFill>
            <a:srgbClr val="1F8E99"/>
          </a:solidFill>
          <a:ln w="12700">
            <a:solidFill>
              <a:srgbClr val="0B1F2A"/>
            </a:solidFill>
            <a:prstDash val="solid"/>
          </a:ln>
        </p:spPr>
      </p:sp>
      <p:sp>
        <p:nvSpPr>
          <p:cNvPr id="55" name="Shape 52"/>
          <p:cNvSpPr/>
          <p:nvPr/>
        </p:nvSpPr>
        <p:spPr>
          <a:xfrm>
            <a:off x="5596128" y="4298708"/>
            <a:ext cx="54864" cy="455144"/>
          </a:xfrm>
          <a:prstGeom prst="rect">
            <a:avLst/>
          </a:prstGeom>
          <a:solidFill>
            <a:srgbClr val="1F8E99"/>
          </a:solidFill>
          <a:ln w="12700">
            <a:solidFill>
              <a:srgbClr val="0B1F2A"/>
            </a:solidFill>
            <a:prstDash val="solid"/>
          </a:ln>
        </p:spPr>
      </p:sp>
      <p:sp>
        <p:nvSpPr>
          <p:cNvPr id="56" name="Shape 53"/>
          <p:cNvSpPr/>
          <p:nvPr/>
        </p:nvSpPr>
        <p:spPr>
          <a:xfrm>
            <a:off x="5705856" y="4404233"/>
            <a:ext cx="54864" cy="244094"/>
          </a:xfrm>
          <a:prstGeom prst="rect">
            <a:avLst/>
          </a:prstGeom>
          <a:solidFill>
            <a:srgbClr val="1F8E99"/>
          </a:solidFill>
          <a:ln w="12700">
            <a:solidFill>
              <a:srgbClr val="0B1F2A"/>
            </a:solidFill>
            <a:prstDash val="solid"/>
          </a:ln>
        </p:spPr>
      </p:sp>
      <p:sp>
        <p:nvSpPr>
          <p:cNvPr id="57" name="Shape 54"/>
          <p:cNvSpPr/>
          <p:nvPr/>
        </p:nvSpPr>
        <p:spPr>
          <a:xfrm>
            <a:off x="5815584" y="4426805"/>
            <a:ext cx="54864" cy="198950"/>
          </a:xfrm>
          <a:prstGeom prst="rect">
            <a:avLst/>
          </a:prstGeom>
          <a:solidFill>
            <a:srgbClr val="1F8E99"/>
          </a:solidFill>
          <a:ln w="12700">
            <a:solidFill>
              <a:srgbClr val="0B1F2A"/>
            </a:solidFill>
            <a:prstDash val="solid"/>
          </a:ln>
        </p:spPr>
      </p:sp>
      <p:sp>
        <p:nvSpPr>
          <p:cNvPr id="58" name="Shape 55"/>
          <p:cNvSpPr/>
          <p:nvPr/>
        </p:nvSpPr>
        <p:spPr>
          <a:xfrm>
            <a:off x="5925312" y="4322256"/>
            <a:ext cx="54864" cy="408047"/>
          </a:xfrm>
          <a:prstGeom prst="rect">
            <a:avLst/>
          </a:prstGeom>
          <a:solidFill>
            <a:srgbClr val="1F8E99"/>
          </a:solidFill>
          <a:ln w="12700">
            <a:solidFill>
              <a:srgbClr val="0B1F2A"/>
            </a:solidFill>
            <a:prstDash val="solid"/>
          </a:ln>
        </p:spPr>
      </p:sp>
      <p:sp>
        <p:nvSpPr>
          <p:cNvPr id="59" name="Shape 56"/>
          <p:cNvSpPr/>
          <p:nvPr/>
        </p:nvSpPr>
        <p:spPr>
          <a:xfrm>
            <a:off x="6035040" y="4237303"/>
            <a:ext cx="54864" cy="577953"/>
          </a:xfrm>
          <a:prstGeom prst="rect">
            <a:avLst/>
          </a:prstGeom>
          <a:solidFill>
            <a:srgbClr val="1F8E99"/>
          </a:solidFill>
          <a:ln w="12700">
            <a:solidFill>
              <a:srgbClr val="0B1F2A"/>
            </a:solidFill>
            <a:prstDash val="solid"/>
          </a:ln>
        </p:spPr>
      </p:sp>
      <p:sp>
        <p:nvSpPr>
          <p:cNvPr id="60" name="Shape 57"/>
          <p:cNvSpPr/>
          <p:nvPr/>
        </p:nvSpPr>
        <p:spPr>
          <a:xfrm>
            <a:off x="6144768" y="4181483"/>
            <a:ext cx="54864" cy="689594"/>
          </a:xfrm>
          <a:prstGeom prst="rect">
            <a:avLst/>
          </a:prstGeom>
          <a:solidFill>
            <a:srgbClr val="1F8E99"/>
          </a:solidFill>
          <a:ln w="12700">
            <a:solidFill>
              <a:srgbClr val="0B1F2A"/>
            </a:solidFill>
            <a:prstDash val="solid"/>
          </a:ln>
        </p:spPr>
      </p:sp>
      <p:sp>
        <p:nvSpPr>
          <p:cNvPr id="61" name="Shape 58"/>
          <p:cNvSpPr/>
          <p:nvPr/>
        </p:nvSpPr>
        <p:spPr>
          <a:xfrm>
            <a:off x="6254496" y="4160297"/>
            <a:ext cx="54864" cy="731966"/>
          </a:xfrm>
          <a:prstGeom prst="rect">
            <a:avLst/>
          </a:prstGeom>
          <a:solidFill>
            <a:srgbClr val="1F8E99"/>
          </a:solidFill>
          <a:ln w="12700">
            <a:solidFill>
              <a:srgbClr val="0B1F2A"/>
            </a:solidFill>
            <a:prstDash val="solid"/>
          </a:ln>
        </p:spPr>
      </p:sp>
      <p:sp>
        <p:nvSpPr>
          <p:cNvPr id="62" name="Shape 59"/>
          <p:cNvSpPr/>
          <p:nvPr/>
        </p:nvSpPr>
        <p:spPr>
          <a:xfrm>
            <a:off x="6364224" y="4174594"/>
            <a:ext cx="54864" cy="703371"/>
          </a:xfrm>
          <a:prstGeom prst="rect">
            <a:avLst/>
          </a:prstGeom>
          <a:solidFill>
            <a:srgbClr val="1F8E99"/>
          </a:solidFill>
          <a:ln w="12700">
            <a:solidFill>
              <a:srgbClr val="0B1F2A"/>
            </a:solidFill>
            <a:prstDash val="solid"/>
          </a:ln>
        </p:spPr>
      </p:sp>
      <p:sp>
        <p:nvSpPr>
          <p:cNvPr id="63" name="Shape 60"/>
          <p:cNvSpPr/>
          <p:nvPr/>
        </p:nvSpPr>
        <p:spPr>
          <a:xfrm>
            <a:off x="6473952" y="4220633"/>
            <a:ext cx="54864" cy="611293"/>
          </a:xfrm>
          <a:prstGeom prst="rect">
            <a:avLst/>
          </a:prstGeom>
          <a:solidFill>
            <a:srgbClr val="1F8E99"/>
          </a:solidFill>
          <a:ln w="12700">
            <a:solidFill>
              <a:srgbClr val="0B1F2A"/>
            </a:solidFill>
            <a:prstDash val="solid"/>
          </a:ln>
        </p:spPr>
      </p:sp>
      <p:sp>
        <p:nvSpPr>
          <p:cNvPr id="64" name="Shape 61"/>
          <p:cNvSpPr/>
          <p:nvPr/>
        </p:nvSpPr>
        <p:spPr>
          <a:xfrm>
            <a:off x="6583680" y="4290795"/>
            <a:ext cx="54864" cy="470970"/>
          </a:xfrm>
          <a:prstGeom prst="rect">
            <a:avLst/>
          </a:prstGeom>
          <a:solidFill>
            <a:srgbClr val="1F8E99"/>
          </a:solidFill>
          <a:ln w="12700">
            <a:solidFill>
              <a:srgbClr val="0B1F2A"/>
            </a:solidFill>
            <a:prstDash val="solid"/>
          </a:ln>
        </p:spPr>
      </p:sp>
      <p:sp>
        <p:nvSpPr>
          <p:cNvPr id="65" name="Shape 62"/>
          <p:cNvSpPr/>
          <p:nvPr/>
        </p:nvSpPr>
        <p:spPr>
          <a:xfrm>
            <a:off x="6693408" y="4374826"/>
            <a:ext cx="54864" cy="302909"/>
          </a:xfrm>
          <a:prstGeom prst="rect">
            <a:avLst/>
          </a:prstGeom>
          <a:solidFill>
            <a:srgbClr val="1F8E99"/>
          </a:solidFill>
          <a:ln w="12700">
            <a:solidFill>
              <a:srgbClr val="0B1F2A"/>
            </a:solidFill>
            <a:prstDash val="solid"/>
          </a:ln>
        </p:spPr>
      </p:sp>
      <p:sp>
        <p:nvSpPr>
          <p:cNvPr id="66" name="Shape 63"/>
          <p:cNvSpPr/>
          <p:nvPr/>
        </p:nvSpPr>
        <p:spPr>
          <a:xfrm>
            <a:off x="6803136" y="4461395"/>
            <a:ext cx="54864" cy="129769"/>
          </a:xfrm>
          <a:prstGeom prst="rect">
            <a:avLst/>
          </a:prstGeom>
          <a:solidFill>
            <a:srgbClr val="F2A33A"/>
          </a:solidFill>
          <a:ln w="12700">
            <a:solidFill>
              <a:srgbClr val="0B1F2A"/>
            </a:solidFill>
            <a:prstDash val="solid"/>
          </a:ln>
        </p:spPr>
      </p:sp>
      <p:sp>
        <p:nvSpPr>
          <p:cNvPr id="67" name="Shape 64"/>
          <p:cNvSpPr/>
          <p:nvPr/>
        </p:nvSpPr>
        <p:spPr>
          <a:xfrm>
            <a:off x="6912864" y="4403095"/>
            <a:ext cx="54864" cy="246370"/>
          </a:xfrm>
          <a:prstGeom prst="rect">
            <a:avLst/>
          </a:prstGeom>
          <a:solidFill>
            <a:srgbClr val="1F8E99"/>
          </a:solidFill>
          <a:ln w="12700">
            <a:solidFill>
              <a:srgbClr val="0B1F2A"/>
            </a:solidFill>
            <a:prstDash val="solid"/>
          </a:ln>
        </p:spPr>
      </p:sp>
      <p:sp>
        <p:nvSpPr>
          <p:cNvPr id="68" name="Shape 65"/>
          <p:cNvSpPr/>
          <p:nvPr/>
        </p:nvSpPr>
        <p:spPr>
          <a:xfrm>
            <a:off x="7022592" y="4341728"/>
            <a:ext cx="54864" cy="369105"/>
          </a:xfrm>
          <a:prstGeom prst="rect">
            <a:avLst/>
          </a:prstGeom>
          <a:solidFill>
            <a:srgbClr val="1F8E99"/>
          </a:solidFill>
          <a:ln w="12700">
            <a:solidFill>
              <a:srgbClr val="0B1F2A"/>
            </a:solidFill>
            <a:prstDash val="solid"/>
          </a:ln>
        </p:spPr>
      </p:sp>
      <p:sp>
        <p:nvSpPr>
          <p:cNvPr id="69" name="Shape 66"/>
          <p:cNvSpPr/>
          <p:nvPr/>
        </p:nvSpPr>
        <p:spPr>
          <a:xfrm>
            <a:off x="7132320" y="4302984"/>
            <a:ext cx="54864" cy="446591"/>
          </a:xfrm>
          <a:prstGeom prst="rect">
            <a:avLst/>
          </a:prstGeom>
          <a:solidFill>
            <a:srgbClr val="1F8E99"/>
          </a:solidFill>
          <a:ln w="12700">
            <a:solidFill>
              <a:srgbClr val="0B1F2A"/>
            </a:solidFill>
            <a:prstDash val="solid"/>
          </a:ln>
        </p:spPr>
      </p:sp>
      <p:sp>
        <p:nvSpPr>
          <p:cNvPr id="70" name="Shape 67"/>
          <p:cNvSpPr/>
          <p:nvPr/>
        </p:nvSpPr>
        <p:spPr>
          <a:xfrm>
            <a:off x="7242048" y="4288878"/>
            <a:ext cx="54864" cy="474805"/>
          </a:xfrm>
          <a:prstGeom prst="rect">
            <a:avLst/>
          </a:prstGeom>
          <a:solidFill>
            <a:srgbClr val="1F8E99"/>
          </a:solidFill>
          <a:ln w="12700">
            <a:solidFill>
              <a:srgbClr val="0B1F2A"/>
            </a:solidFill>
            <a:prstDash val="solid"/>
          </a:ln>
        </p:spPr>
      </p:sp>
      <p:sp>
        <p:nvSpPr>
          <p:cNvPr id="71" name="Shape 68"/>
          <p:cNvSpPr/>
          <p:nvPr/>
        </p:nvSpPr>
        <p:spPr>
          <a:xfrm>
            <a:off x="7351776" y="4297822"/>
            <a:ext cx="54864" cy="456916"/>
          </a:xfrm>
          <a:prstGeom prst="rect">
            <a:avLst/>
          </a:prstGeom>
          <a:solidFill>
            <a:srgbClr val="1F8E99"/>
          </a:solidFill>
          <a:ln w="12700">
            <a:solidFill>
              <a:srgbClr val="0B1F2A"/>
            </a:solidFill>
            <a:prstDash val="solid"/>
          </a:ln>
        </p:spPr>
      </p:sp>
      <p:sp>
        <p:nvSpPr>
          <p:cNvPr id="72" name="Shape 69"/>
          <p:cNvSpPr/>
          <p:nvPr/>
        </p:nvSpPr>
        <p:spPr>
          <a:xfrm>
            <a:off x="7461504" y="4325215"/>
            <a:ext cx="54864" cy="402130"/>
          </a:xfrm>
          <a:prstGeom prst="rect">
            <a:avLst/>
          </a:prstGeom>
          <a:solidFill>
            <a:srgbClr val="1F8E99"/>
          </a:solidFill>
          <a:ln w="12700">
            <a:solidFill>
              <a:srgbClr val="0B1F2A"/>
            </a:solidFill>
            <a:prstDash val="solid"/>
          </a:ln>
        </p:spPr>
      </p:sp>
      <p:sp>
        <p:nvSpPr>
          <p:cNvPr id="73" name="Shape 70"/>
          <p:cNvSpPr/>
          <p:nvPr/>
        </p:nvSpPr>
        <p:spPr>
          <a:xfrm>
            <a:off x="7571232" y="4342289"/>
            <a:ext cx="54864" cy="367981"/>
          </a:xfrm>
          <a:prstGeom prst="rect">
            <a:avLst/>
          </a:prstGeom>
          <a:solidFill>
            <a:srgbClr val="1F8E99"/>
          </a:solidFill>
          <a:ln w="12700">
            <a:solidFill>
              <a:srgbClr val="0B1F2A"/>
            </a:solidFill>
            <a:prstDash val="solid"/>
          </a:ln>
        </p:spPr>
      </p:sp>
      <p:sp>
        <p:nvSpPr>
          <p:cNvPr id="74" name="Shape 71"/>
          <p:cNvSpPr/>
          <p:nvPr/>
        </p:nvSpPr>
        <p:spPr>
          <a:xfrm>
            <a:off x="7680960" y="4375799"/>
            <a:ext cx="54864" cy="300961"/>
          </a:xfrm>
          <a:prstGeom prst="rect">
            <a:avLst/>
          </a:prstGeom>
          <a:solidFill>
            <a:srgbClr val="1F8E99"/>
          </a:solidFill>
          <a:ln w="12700">
            <a:solidFill>
              <a:srgbClr val="0B1F2A"/>
            </a:solidFill>
            <a:prstDash val="solid"/>
          </a:ln>
        </p:spPr>
      </p:sp>
      <p:sp>
        <p:nvSpPr>
          <p:cNvPr id="75" name="Shape 72"/>
          <p:cNvSpPr/>
          <p:nvPr/>
        </p:nvSpPr>
        <p:spPr>
          <a:xfrm>
            <a:off x="7790688" y="4429037"/>
            <a:ext cx="54864" cy="194487"/>
          </a:xfrm>
          <a:prstGeom prst="rect">
            <a:avLst/>
          </a:prstGeom>
          <a:solidFill>
            <a:srgbClr val="1F8E99"/>
          </a:solidFill>
          <a:ln w="12700">
            <a:solidFill>
              <a:srgbClr val="0B1F2A"/>
            </a:solidFill>
            <a:prstDash val="solid"/>
          </a:ln>
        </p:spPr>
      </p:sp>
      <p:sp>
        <p:nvSpPr>
          <p:cNvPr id="76" name="Shape 73"/>
          <p:cNvSpPr/>
          <p:nvPr/>
        </p:nvSpPr>
        <p:spPr>
          <a:xfrm>
            <a:off x="7900416" y="4445519"/>
            <a:ext cx="54864" cy="161522"/>
          </a:xfrm>
          <a:prstGeom prst="rect">
            <a:avLst/>
          </a:prstGeom>
          <a:solidFill>
            <a:srgbClr val="1F8E99"/>
          </a:solidFill>
          <a:ln w="12700">
            <a:solidFill>
              <a:srgbClr val="0B1F2A"/>
            </a:solidFill>
            <a:prstDash val="solid"/>
          </a:ln>
        </p:spPr>
      </p:sp>
      <p:sp>
        <p:nvSpPr>
          <p:cNvPr id="77" name="Shape 74"/>
          <p:cNvSpPr/>
          <p:nvPr/>
        </p:nvSpPr>
        <p:spPr>
          <a:xfrm>
            <a:off x="8010144" y="4369837"/>
            <a:ext cx="54864" cy="312887"/>
          </a:xfrm>
          <a:prstGeom prst="rect">
            <a:avLst/>
          </a:prstGeom>
          <a:solidFill>
            <a:srgbClr val="1F8E99"/>
          </a:solidFill>
          <a:ln w="12700">
            <a:solidFill>
              <a:srgbClr val="0B1F2A"/>
            </a:solidFill>
            <a:prstDash val="solid"/>
          </a:ln>
        </p:spPr>
      </p:sp>
      <p:sp>
        <p:nvSpPr>
          <p:cNvPr id="78" name="Shape 75"/>
          <p:cNvSpPr/>
          <p:nvPr/>
        </p:nvSpPr>
        <p:spPr>
          <a:xfrm>
            <a:off x="8119872" y="4296413"/>
            <a:ext cx="54864" cy="459733"/>
          </a:xfrm>
          <a:prstGeom prst="rect">
            <a:avLst/>
          </a:prstGeom>
          <a:solidFill>
            <a:srgbClr val="1F8E99"/>
          </a:solidFill>
          <a:ln w="12700">
            <a:solidFill>
              <a:srgbClr val="0B1F2A"/>
            </a:solidFill>
            <a:prstDash val="solid"/>
          </a:ln>
        </p:spPr>
      </p:sp>
      <p:sp>
        <p:nvSpPr>
          <p:cNvPr id="79" name="Shape 76"/>
          <p:cNvSpPr/>
          <p:nvPr/>
        </p:nvSpPr>
        <p:spPr>
          <a:xfrm>
            <a:off x="8229600" y="4235627"/>
            <a:ext cx="54864" cy="581305"/>
          </a:xfrm>
          <a:prstGeom prst="rect">
            <a:avLst/>
          </a:prstGeom>
          <a:solidFill>
            <a:srgbClr val="1F8E99"/>
          </a:solidFill>
          <a:ln w="12700">
            <a:solidFill>
              <a:srgbClr val="0B1F2A"/>
            </a:solidFill>
            <a:prstDash val="solid"/>
          </a:ln>
        </p:spPr>
      </p:sp>
      <p:sp>
        <p:nvSpPr>
          <p:cNvPr id="80" name="Shape 77"/>
          <p:cNvSpPr/>
          <p:nvPr/>
        </p:nvSpPr>
        <p:spPr>
          <a:xfrm>
            <a:off x="8339328" y="4197040"/>
            <a:ext cx="54864" cy="658479"/>
          </a:xfrm>
          <a:prstGeom prst="rect">
            <a:avLst/>
          </a:prstGeom>
          <a:solidFill>
            <a:srgbClr val="1F8E99"/>
          </a:solidFill>
          <a:ln w="12700">
            <a:solidFill>
              <a:srgbClr val="0B1F2A"/>
            </a:solidFill>
            <a:prstDash val="solid"/>
          </a:ln>
        </p:spPr>
      </p:sp>
      <p:sp>
        <p:nvSpPr>
          <p:cNvPr id="81" name="Shape 78"/>
          <p:cNvSpPr/>
          <p:nvPr/>
        </p:nvSpPr>
        <p:spPr>
          <a:xfrm>
            <a:off x="8449056" y="4187894"/>
            <a:ext cx="54864" cy="676773"/>
          </a:xfrm>
          <a:prstGeom prst="rect">
            <a:avLst/>
          </a:prstGeom>
          <a:solidFill>
            <a:srgbClr val="1F8E99"/>
          </a:solidFill>
          <a:ln w="12700">
            <a:solidFill>
              <a:srgbClr val="0B1F2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0B1F2A"/>
                </a:solidFill>
                <a:latin typeface="Cambria" pitchFamily="34" charset="0"/>
                <a:ea typeface="Cambria" pitchFamily="34" charset="-122"/>
                <a:cs typeface="Cambria" pitchFamily="34" charset="-120"/>
              </a:rPr>
              <a:t>The problem: domain shift</a:t>
            </a:r>
            <a:endParaRPr lang="en-US" sz="3400" dirty="0"/>
          </a:p>
        </p:txBody>
      </p:sp>
      <p:sp>
        <p:nvSpPr>
          <p:cNvPr id="3" name="Text 1"/>
          <p:cNvSpPr txBox="1"/>
          <p:nvPr/>
        </p:nvSpPr>
        <p:spPr>
          <a:xfrm>
            <a:off x="548640" y="4709160"/>
            <a:ext cx="4572000" cy="228600"/>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Zero presentation  ·  Ata Göker</a:t>
            </a:r>
            <a:endParaRPr lang="en-US" sz="1000" dirty="0"/>
          </a:p>
        </p:txBody>
      </p:sp>
      <p:sp>
        <p:nvSpPr>
          <p:cNvPr id="4" name="Text 2"/>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0E7C86"/>
                </a:solidFill>
                <a:latin typeface="Calibri" pitchFamily="34" charset="0"/>
                <a:ea typeface="Calibri" pitchFamily="34" charset="-122"/>
                <a:cs typeface="Calibri" pitchFamily="34" charset="-120"/>
              </a:rPr>
              <a:t>2/6</a:t>
            </a:r>
            <a:endParaRPr lang="en-US" sz="1400" dirty="0"/>
          </a:p>
        </p:txBody>
      </p:sp>
      <p:sp>
        <p:nvSpPr>
          <p:cNvPr id="6" name="Shape 3"/>
          <p:cNvSpPr/>
          <p:nvPr/>
        </p:nvSpPr>
        <p:spPr>
          <a:xfrm>
            <a:off x="548640" y="1371600"/>
            <a:ext cx="3291840" cy="1737360"/>
          </a:xfrm>
          <a:prstGeom prst="roundRect">
            <a:avLst>
              <a:gd name="adj" fmla="val 631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777240" y="1554480"/>
            <a:ext cx="28346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LAB  ·  SOURCE</a:t>
            </a:r>
            <a:endParaRPr lang="en-US" sz="1100" dirty="0"/>
          </a:p>
        </p:txBody>
      </p:sp>
      <p:sp>
        <p:nvSpPr>
          <p:cNvPr id="8" name="Text 5"/>
          <p:cNvSpPr txBox="1"/>
          <p:nvPr/>
        </p:nvSpPr>
        <p:spPr>
          <a:xfrm>
            <a:off x="777240" y="1828800"/>
            <a:ext cx="2834640" cy="548640"/>
          </a:xfrm>
          <a:prstGeom prst="rect">
            <a:avLst/>
          </a:prstGeom>
          <a:noFill/>
          <a:ln/>
        </p:spPr>
        <p:txBody>
          <a:bodyPr wrap="square" lIns="0" tIns="0" rIns="0" bIns="0" rtlCol="0" anchor="t"/>
          <a:lstStyle/>
          <a:p>
            <a:pPr indent="0" marL="0">
              <a:buNone/>
            </a:pPr>
            <a:r>
              <a:rPr lang="en-US" sz="3000" b="1" dirty="0">
                <a:solidFill>
                  <a:srgbClr val="0B1F2A"/>
                </a:solidFill>
                <a:latin typeface="Cambria" pitchFamily="34" charset="0"/>
                <a:ea typeface="Cambria" pitchFamily="34" charset="-122"/>
                <a:cs typeface="Cambria" pitchFamily="34" charset="-120"/>
              </a:rPr>
              <a:t>Labeled</a:t>
            </a:r>
            <a:endParaRPr lang="en-US" sz="3000" dirty="0"/>
          </a:p>
        </p:txBody>
      </p:sp>
      <p:sp>
        <p:nvSpPr>
          <p:cNvPr id="9" name="Text 6"/>
          <p:cNvSpPr txBox="1"/>
          <p:nvPr/>
        </p:nvSpPr>
        <p:spPr>
          <a:xfrm>
            <a:off x="777240" y="2468880"/>
            <a:ext cx="2834640" cy="45720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Known healthy and faulty recordings</a:t>
            </a:r>
            <a:endParaRPr lang="en-US" sz="1400" dirty="0"/>
          </a:p>
        </p:txBody>
      </p:sp>
      <p:sp>
        <p:nvSpPr>
          <p:cNvPr id="10" name="Text 7"/>
          <p:cNvSpPr txBox="1"/>
          <p:nvPr/>
        </p:nvSpPr>
        <p:spPr>
          <a:xfrm>
            <a:off x="3931920" y="1783080"/>
            <a:ext cx="1280160" cy="274320"/>
          </a:xfrm>
          <a:prstGeom prst="rect">
            <a:avLst/>
          </a:prstGeom>
          <a:noFill/>
          <a:ln/>
        </p:spPr>
        <p:txBody>
          <a:bodyPr wrap="square" lIns="0" tIns="0" rIns="0" bIns="0" rtlCol="0" anchor="t"/>
          <a:lstStyle/>
          <a:p>
            <a:pPr algn="ctr" indent="0" marL="0">
              <a:buNone/>
            </a:pPr>
            <a:r>
              <a:rPr lang="en-US" sz="1300" b="1" dirty="0">
                <a:solidFill>
                  <a:srgbClr val="B8730F"/>
                </a:solidFill>
                <a:latin typeface="Calibri" pitchFamily="34" charset="0"/>
                <a:ea typeface="Calibri" pitchFamily="34" charset="-122"/>
                <a:cs typeface="Calibri" pitchFamily="34" charset="-120"/>
              </a:rPr>
              <a:t>domain shift</a:t>
            </a:r>
            <a:endParaRPr lang="en-US" sz="1300" dirty="0"/>
          </a:p>
        </p:txBody>
      </p:sp>
      <p:sp>
        <p:nvSpPr>
          <p:cNvPr id="11" name="Shape 8"/>
          <p:cNvSpPr/>
          <p:nvPr/>
        </p:nvSpPr>
        <p:spPr>
          <a:xfrm>
            <a:off x="4023360" y="2148840"/>
            <a:ext cx="1097280" cy="457200"/>
          </a:xfrm>
          <a:prstGeom prst="rightArrow">
            <a:avLst/>
          </a:prstGeom>
          <a:solidFill>
            <a:srgbClr val="F2A33A"/>
          </a:solidFill>
          <a:ln w="12700">
            <a:solidFill>
              <a:srgbClr val="F2A33A"/>
            </a:solidFill>
            <a:prstDash val="solid"/>
          </a:ln>
        </p:spPr>
      </p:sp>
      <p:sp>
        <p:nvSpPr>
          <p:cNvPr id="12" name="Shape 9"/>
          <p:cNvSpPr/>
          <p:nvPr/>
        </p:nvSpPr>
        <p:spPr>
          <a:xfrm>
            <a:off x="5303520" y="1371600"/>
            <a:ext cx="3291840" cy="1737360"/>
          </a:xfrm>
          <a:prstGeom prst="roundRect">
            <a:avLst>
              <a:gd name="adj" fmla="val 6316"/>
            </a:avLst>
          </a:prstGeom>
          <a:solidFill>
            <a:srgbClr val="0B1F2A"/>
          </a:solidFill>
          <a:ln w="12700">
            <a:solidFill>
              <a:srgbClr val="0B1F2A"/>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5532120" y="1554480"/>
            <a:ext cx="2834640" cy="228600"/>
          </a:xfrm>
          <a:prstGeom prst="rect">
            <a:avLst/>
          </a:prstGeom>
          <a:noFill/>
          <a:ln/>
        </p:spPr>
        <p:txBody>
          <a:bodyPr wrap="square" lIns="0" tIns="0" rIns="0" bIns="0" rtlCol="0" anchor="t"/>
          <a:lstStyle/>
          <a:p>
            <a:pPr indent="0" marL="0">
              <a:buNone/>
            </a:pPr>
            <a:r>
              <a:rPr lang="en-US" sz="1100" b="1" spc="200" kern="0" dirty="0">
                <a:solidFill>
                  <a:srgbClr val="F2A33A"/>
                </a:solidFill>
                <a:latin typeface="Calibri" pitchFamily="34" charset="0"/>
                <a:ea typeface="Calibri" pitchFamily="34" charset="-122"/>
                <a:cs typeface="Calibri" pitchFamily="34" charset="-120"/>
              </a:rPr>
              <a:t>NEW MACHINE  ·  TARGET</a:t>
            </a:r>
            <a:endParaRPr lang="en-US" sz="1100" dirty="0"/>
          </a:p>
        </p:txBody>
      </p:sp>
      <p:sp>
        <p:nvSpPr>
          <p:cNvPr id="14" name="Text 11"/>
          <p:cNvSpPr txBox="1"/>
          <p:nvPr/>
        </p:nvSpPr>
        <p:spPr>
          <a:xfrm>
            <a:off x="5532120" y="1828800"/>
            <a:ext cx="283464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Unlabeled</a:t>
            </a:r>
            <a:endParaRPr lang="en-US" sz="3000" dirty="0"/>
          </a:p>
        </p:txBody>
      </p:sp>
      <p:sp>
        <p:nvSpPr>
          <p:cNvPr id="15" name="Text 12"/>
          <p:cNvSpPr txBox="1"/>
          <p:nvPr/>
        </p:nvSpPr>
        <p:spPr>
          <a:xfrm>
            <a:off x="5532120" y="2468880"/>
            <a:ext cx="2834640" cy="457200"/>
          </a:xfrm>
          <a:prstGeom prst="rect">
            <a:avLst/>
          </a:prstGeom>
          <a:noFill/>
          <a:ln/>
        </p:spPr>
        <p:txBody>
          <a:bodyPr wrap="square" lIns="0" tIns="0" rIns="0" bIns="0" rtlCol="0" anchor="t"/>
          <a:lstStyle/>
          <a:p>
            <a:pPr indent="0" marL="0">
              <a:buNone/>
            </a:pPr>
            <a:r>
              <a:rPr lang="en-US" sz="1400" dirty="0">
                <a:solidFill>
                  <a:srgbClr val="CFE3E8"/>
                </a:solidFill>
                <a:latin typeface="Calibri" pitchFamily="34" charset="0"/>
                <a:ea typeface="Calibri" pitchFamily="34" charset="-122"/>
                <a:cs typeface="Calibri" pitchFamily="34" charset="-120"/>
              </a:rPr>
              <a:t>Different load, speed, mounting</a:t>
            </a:r>
            <a:endParaRPr lang="en-US" sz="1400" dirty="0"/>
          </a:p>
        </p:txBody>
      </p:sp>
      <p:sp>
        <p:nvSpPr>
          <p:cNvPr id="16" name="Shape 13"/>
          <p:cNvSpPr/>
          <p:nvPr/>
        </p:nvSpPr>
        <p:spPr>
          <a:xfrm>
            <a:off x="548640" y="3429000"/>
            <a:ext cx="8046720" cy="1005840"/>
          </a:xfrm>
          <a:prstGeom prst="roundRect">
            <a:avLst>
              <a:gd name="adj" fmla="val 10909"/>
            </a:avLst>
          </a:prstGeom>
          <a:solidFill>
            <a:srgbClr val="FDEFD6"/>
          </a:solidFill>
          <a:ln w="12700">
            <a:solidFill>
              <a:srgbClr val="FDEFD6"/>
            </a:solidFill>
            <a:prstDash val="solid"/>
          </a:ln>
        </p:spPr>
      </p:sp>
      <p:sp>
        <p:nvSpPr>
          <p:cNvPr id="17" name="Text 14"/>
          <p:cNvSpPr txBox="1"/>
          <p:nvPr/>
        </p:nvSpPr>
        <p:spPr>
          <a:xfrm>
            <a:off x="777240" y="3566160"/>
            <a:ext cx="7589520" cy="365760"/>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Labeling every new installation is too slow and too expensive</a:t>
            </a:r>
            <a:endParaRPr lang="en-US" sz="1800" dirty="0"/>
          </a:p>
        </p:txBody>
      </p:sp>
      <p:sp>
        <p:nvSpPr>
          <p:cNvPr id="18" name="Text 15"/>
          <p:cNvSpPr txBox="1"/>
          <p:nvPr/>
        </p:nvSpPr>
        <p:spPr>
          <a:xfrm>
            <a:off x="777240" y="3977640"/>
            <a:ext cx="7589520" cy="320040"/>
          </a:xfrm>
          <a:prstGeom prst="rect">
            <a:avLst/>
          </a:prstGeom>
          <a:noFill/>
          <a:ln/>
        </p:spPr>
        <p:txBody>
          <a:bodyPr wrap="square" lIns="0" tIns="0" rIns="0" bIns="0" rtlCol="0" anchor="t"/>
          <a:lstStyle/>
          <a:p>
            <a:pPr indent="0" marL="0">
              <a:buNone/>
            </a:pPr>
            <a:r>
              <a:rPr lang="en-US" sz="1500" dirty="0">
                <a:solidFill>
                  <a:srgbClr val="7A4A05"/>
                </a:solidFill>
                <a:latin typeface="Calibri" pitchFamily="34" charset="0"/>
                <a:ea typeface="Calibri" pitchFamily="34" charset="-122"/>
                <a:cs typeface="Calibri" pitchFamily="34" charset="-120"/>
              </a:rPr>
              <a:t>Can the model adapt using only unlabeled data from the new machine?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0B1F2A"/>
                </a:solidFill>
                <a:latin typeface="Cambria" pitchFamily="34" charset="0"/>
                <a:ea typeface="Cambria" pitchFamily="34" charset="-122"/>
                <a:cs typeface="Cambria" pitchFamily="34" charset="-120"/>
              </a:rPr>
              <a:t>The idea: teacher–student adaptation</a:t>
            </a:r>
            <a:endParaRPr lang="en-US" sz="3400" dirty="0"/>
          </a:p>
        </p:txBody>
      </p:sp>
      <p:sp>
        <p:nvSpPr>
          <p:cNvPr id="3" name="Text 1"/>
          <p:cNvSpPr txBox="1"/>
          <p:nvPr/>
        </p:nvSpPr>
        <p:spPr>
          <a:xfrm>
            <a:off x="548640" y="4709160"/>
            <a:ext cx="4572000" cy="228600"/>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Zero presentation  ·  Ata Göker</a:t>
            </a:r>
            <a:endParaRPr lang="en-US" sz="1000" dirty="0"/>
          </a:p>
        </p:txBody>
      </p:sp>
      <p:sp>
        <p:nvSpPr>
          <p:cNvPr id="4" name="Text 2"/>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0E7C86"/>
                </a:solidFill>
                <a:latin typeface="Calibri" pitchFamily="34" charset="0"/>
                <a:ea typeface="Calibri" pitchFamily="34" charset="-122"/>
                <a:cs typeface="Calibri" pitchFamily="34" charset="-120"/>
              </a:rPr>
              <a:t>3/6</a:t>
            </a:r>
            <a:endParaRPr lang="en-US" sz="1400" dirty="0"/>
          </a:p>
        </p:txBody>
      </p:sp>
      <p:sp>
        <p:nvSpPr>
          <p:cNvPr id="6" name="Shape 3"/>
          <p:cNvSpPr/>
          <p:nvPr/>
        </p:nvSpPr>
        <p:spPr>
          <a:xfrm>
            <a:off x="548640" y="1371600"/>
            <a:ext cx="2468880" cy="26974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77240" y="1572768"/>
            <a:ext cx="502920" cy="502920"/>
          </a:xfrm>
          <a:prstGeom prst="ellipse">
            <a:avLst/>
          </a:prstGeom>
          <a:solidFill>
            <a:srgbClr val="0E7C86"/>
          </a:solidFill>
          <a:ln w="12700">
            <a:solidFill>
              <a:srgbClr val="0E7C86"/>
            </a:solidFill>
            <a:prstDash val="solid"/>
          </a:ln>
        </p:spPr>
      </p:sp>
      <p:sp>
        <p:nvSpPr>
          <p:cNvPr id="8" name="Text 5"/>
          <p:cNvSpPr txBox="1"/>
          <p:nvPr/>
        </p:nvSpPr>
        <p:spPr>
          <a:xfrm>
            <a:off x="777240" y="1572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
          <p:cNvSpPr txBox="1"/>
          <p:nvPr/>
        </p:nvSpPr>
        <p:spPr>
          <a:xfrm>
            <a:off x="777240" y="2240280"/>
            <a:ext cx="2011680" cy="365760"/>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Teacher predicts</a:t>
            </a:r>
            <a:endParaRPr lang="en-US" sz="1800" dirty="0"/>
          </a:p>
        </p:txBody>
      </p:sp>
      <p:sp>
        <p:nvSpPr>
          <p:cNvPr id="10" name="Text 7"/>
          <p:cNvSpPr txBox="1"/>
          <p:nvPr/>
        </p:nvSpPr>
        <p:spPr>
          <a:xfrm>
            <a:off x="777240" y="2651760"/>
            <a:ext cx="2011680" cy="128016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A slow average of the student labels each unlabeled window. Only confident predictions are kept.</a:t>
            </a:r>
            <a:endParaRPr lang="en-US" sz="1400" dirty="0"/>
          </a:p>
        </p:txBody>
      </p:sp>
      <p:sp>
        <p:nvSpPr>
          <p:cNvPr id="11" name="Shape 8"/>
          <p:cNvSpPr/>
          <p:nvPr/>
        </p:nvSpPr>
        <p:spPr>
          <a:xfrm>
            <a:off x="3054096" y="2606040"/>
            <a:ext cx="246888" cy="274320"/>
          </a:xfrm>
          <a:prstGeom prst="rightArrow">
            <a:avLst/>
          </a:prstGeom>
          <a:solidFill>
            <a:srgbClr val="F2A33A"/>
          </a:solidFill>
          <a:ln w="12700">
            <a:solidFill>
              <a:srgbClr val="F2A33A"/>
            </a:solidFill>
            <a:prstDash val="solid"/>
          </a:ln>
        </p:spPr>
      </p:sp>
      <p:sp>
        <p:nvSpPr>
          <p:cNvPr id="12" name="Shape 9"/>
          <p:cNvSpPr/>
          <p:nvPr/>
        </p:nvSpPr>
        <p:spPr>
          <a:xfrm>
            <a:off x="3337560" y="1371600"/>
            <a:ext cx="2468880" cy="26974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3566160" y="1572768"/>
            <a:ext cx="502920" cy="502920"/>
          </a:xfrm>
          <a:prstGeom prst="ellipse">
            <a:avLst/>
          </a:prstGeom>
          <a:solidFill>
            <a:srgbClr val="0E7C86"/>
          </a:solidFill>
          <a:ln w="12700">
            <a:solidFill>
              <a:srgbClr val="0E7C86"/>
            </a:solidFill>
            <a:prstDash val="solid"/>
          </a:ln>
        </p:spPr>
      </p:sp>
      <p:sp>
        <p:nvSpPr>
          <p:cNvPr id="14" name="Text 11"/>
          <p:cNvSpPr txBox="1"/>
          <p:nvPr/>
        </p:nvSpPr>
        <p:spPr>
          <a:xfrm>
            <a:off x="3566160" y="1572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txBox="1"/>
          <p:nvPr/>
        </p:nvSpPr>
        <p:spPr>
          <a:xfrm>
            <a:off x="3566160" y="2240280"/>
            <a:ext cx="2011680" cy="365760"/>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Student learns</a:t>
            </a:r>
            <a:endParaRPr lang="en-US" sz="1800" dirty="0"/>
          </a:p>
        </p:txBody>
      </p:sp>
      <p:sp>
        <p:nvSpPr>
          <p:cNvPr id="16" name="Text 13"/>
          <p:cNvSpPr txBox="1"/>
          <p:nvPr/>
        </p:nvSpPr>
        <p:spPr>
          <a:xfrm>
            <a:off x="3566160" y="2651760"/>
            <a:ext cx="2011680" cy="128016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Uses lab labels, accepted pseudo-labels, and stable predictions under small signal changes.</a:t>
            </a:r>
            <a:endParaRPr lang="en-US" sz="1400" dirty="0"/>
          </a:p>
        </p:txBody>
      </p:sp>
      <p:sp>
        <p:nvSpPr>
          <p:cNvPr id="17" name="Shape 14"/>
          <p:cNvSpPr/>
          <p:nvPr/>
        </p:nvSpPr>
        <p:spPr>
          <a:xfrm>
            <a:off x="5843016" y="2606040"/>
            <a:ext cx="246888" cy="274320"/>
          </a:xfrm>
          <a:prstGeom prst="rightArrow">
            <a:avLst/>
          </a:prstGeom>
          <a:solidFill>
            <a:srgbClr val="F2A33A"/>
          </a:solidFill>
          <a:ln w="12700">
            <a:solidFill>
              <a:srgbClr val="F2A33A"/>
            </a:solidFill>
            <a:prstDash val="solid"/>
          </a:ln>
        </p:spPr>
      </p:sp>
      <p:sp>
        <p:nvSpPr>
          <p:cNvPr id="18" name="Shape 15"/>
          <p:cNvSpPr/>
          <p:nvPr/>
        </p:nvSpPr>
        <p:spPr>
          <a:xfrm>
            <a:off x="6126480" y="1371600"/>
            <a:ext cx="2468880" cy="26974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355080" y="1572768"/>
            <a:ext cx="502920" cy="502920"/>
          </a:xfrm>
          <a:prstGeom prst="ellipse">
            <a:avLst/>
          </a:prstGeom>
          <a:solidFill>
            <a:srgbClr val="0E7C86"/>
          </a:solidFill>
          <a:ln w="12700">
            <a:solidFill>
              <a:srgbClr val="0E7C86"/>
            </a:solidFill>
            <a:prstDash val="solid"/>
          </a:ln>
        </p:spPr>
      </p:sp>
      <p:sp>
        <p:nvSpPr>
          <p:cNvPr id="20" name="Text 17"/>
          <p:cNvSpPr txBox="1"/>
          <p:nvPr/>
        </p:nvSpPr>
        <p:spPr>
          <a:xfrm>
            <a:off x="6355080" y="1572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8"/>
          <p:cNvSpPr txBox="1"/>
          <p:nvPr/>
        </p:nvSpPr>
        <p:spPr>
          <a:xfrm>
            <a:off x="6355080" y="2240280"/>
            <a:ext cx="2011680" cy="365760"/>
          </a:xfrm>
          <a:prstGeom prst="rect">
            <a:avLst/>
          </a:prstGeom>
          <a:noFill/>
          <a:ln/>
        </p:spPr>
        <p:txBody>
          <a:bodyPr wrap="square" lIns="0" tIns="0" rIns="0" bIns="0" rtlCol="0" anchor="t"/>
          <a:lstStyle/>
          <a:p>
            <a:pPr indent="0" marL="0">
              <a:buNone/>
            </a:pPr>
            <a:r>
              <a:rPr lang="en-US" sz="1800" b="1" dirty="0">
                <a:solidFill>
                  <a:srgbClr val="0B1F2A"/>
                </a:solidFill>
                <a:latin typeface="Calibri" pitchFamily="34" charset="0"/>
                <a:ea typeface="Calibri" pitchFamily="34" charset="-122"/>
                <a:cs typeface="Calibri" pitchFamily="34" charset="-120"/>
              </a:rPr>
              <a:t>Teacher updates</a:t>
            </a:r>
            <a:endParaRPr lang="en-US" sz="1800" dirty="0"/>
          </a:p>
        </p:txBody>
      </p:sp>
      <p:sp>
        <p:nvSpPr>
          <p:cNvPr id="22" name="Text 19"/>
          <p:cNvSpPr txBox="1"/>
          <p:nvPr/>
        </p:nvSpPr>
        <p:spPr>
          <a:xfrm>
            <a:off x="6355080" y="2651760"/>
            <a:ext cx="2011680" cy="128016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Teacher weights follow the student by exponential moving average. Then repeat.</a:t>
            </a:r>
            <a:endParaRPr lang="en-US" sz="1400" dirty="0"/>
          </a:p>
        </p:txBody>
      </p:sp>
      <p:sp>
        <p:nvSpPr>
          <p:cNvPr id="23" name="Text 20"/>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500" i="1" dirty="0">
                <a:solidFill>
                  <a:srgbClr val="B8730F"/>
                </a:solidFill>
                <a:latin typeface="Calibri" pitchFamily="34" charset="0"/>
                <a:ea typeface="Calibri" pitchFamily="34" charset="-122"/>
                <a:cs typeface="Calibri" pitchFamily="34" charset="-120"/>
              </a:rPr>
              <a:t>Risk to study: a confident pseudo-label can still be wrong.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0B1F2A"/>
                </a:solidFill>
                <a:latin typeface="Cambria" pitchFamily="34" charset="0"/>
                <a:ea typeface="Cambria" pitchFamily="34" charset="-122"/>
                <a:cs typeface="Cambria" pitchFamily="34" charset="-120"/>
              </a:rPr>
              <a:t>What I will build</a:t>
            </a:r>
            <a:endParaRPr lang="en-US" sz="3400" dirty="0"/>
          </a:p>
        </p:txBody>
      </p:sp>
      <p:sp>
        <p:nvSpPr>
          <p:cNvPr id="3" name="Text 1"/>
          <p:cNvSpPr txBox="1"/>
          <p:nvPr/>
        </p:nvSpPr>
        <p:spPr>
          <a:xfrm>
            <a:off x="548640" y="4709160"/>
            <a:ext cx="4572000" cy="228600"/>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Zero presentation  ·  Ata Göker</a:t>
            </a:r>
            <a:endParaRPr lang="en-US" sz="1000" dirty="0"/>
          </a:p>
        </p:txBody>
      </p:sp>
      <p:sp>
        <p:nvSpPr>
          <p:cNvPr id="4" name="Text 2"/>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0E7C86"/>
                </a:solidFill>
                <a:latin typeface="Calibri" pitchFamily="34" charset="0"/>
                <a:ea typeface="Calibri" pitchFamily="34" charset="-122"/>
                <a:cs typeface="Calibri" pitchFamily="34" charset="-120"/>
              </a:rPr>
              <a:t>4/6</a:t>
            </a:r>
            <a:endParaRPr lang="en-US" sz="1400" dirty="0"/>
          </a:p>
        </p:txBody>
      </p:sp>
      <p:sp>
        <p:nvSpPr>
          <p:cNvPr id="6" name="Shape 3"/>
          <p:cNvSpPr/>
          <p:nvPr/>
        </p:nvSpPr>
        <p:spPr>
          <a:xfrm>
            <a:off x="548640" y="137160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822960" y="1536192"/>
            <a:ext cx="32918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DATA</a:t>
            </a:r>
            <a:endParaRPr lang="en-US" sz="1100" dirty="0"/>
          </a:p>
        </p:txBody>
      </p:sp>
      <p:sp>
        <p:nvSpPr>
          <p:cNvPr id="8" name="Text 5"/>
          <p:cNvSpPr txBox="1"/>
          <p:nvPr/>
        </p:nvSpPr>
        <p:spPr>
          <a:xfrm>
            <a:off x="822960" y="1801368"/>
            <a:ext cx="3383280" cy="365760"/>
          </a:xfrm>
          <a:prstGeom prst="rect">
            <a:avLst/>
          </a:prstGeom>
          <a:noFill/>
          <a:ln/>
        </p:spPr>
        <p:txBody>
          <a:bodyPr wrap="square" lIns="0" tIns="0" rIns="0" bIns="0" rtlCol="0" anchor="t"/>
          <a:lstStyle/>
          <a:p>
            <a:pPr indent="0" marL="0">
              <a:buNone/>
            </a:pPr>
            <a:r>
              <a:rPr lang="en-US" sz="1900" b="1" dirty="0">
                <a:solidFill>
                  <a:srgbClr val="0B1F2A"/>
                </a:solidFill>
                <a:latin typeface="Calibri" pitchFamily="34" charset="0"/>
                <a:ea typeface="Calibri" pitchFamily="34" charset="-122"/>
                <a:cs typeface="Calibri" pitchFamily="34" charset="-120"/>
              </a:rPr>
              <a:t>CWRU vibration signals</a:t>
            </a:r>
            <a:endParaRPr lang="en-US" sz="1900" dirty="0"/>
          </a:p>
        </p:txBody>
      </p:sp>
      <p:sp>
        <p:nvSpPr>
          <p:cNvPr id="9" name="Text 6"/>
          <p:cNvSpPr txBox="1"/>
          <p:nvPr/>
        </p:nvSpPr>
        <p:spPr>
          <a:xfrm>
            <a:off x="822960" y="2212848"/>
            <a:ext cx="3383280" cy="50292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Raw 1D signals cut into short windows.</a:t>
            </a:r>
            <a:endParaRPr lang="en-US" sz="1400" dirty="0"/>
          </a:p>
        </p:txBody>
      </p:sp>
      <p:sp>
        <p:nvSpPr>
          <p:cNvPr id="10" name="Shape 7"/>
          <p:cNvSpPr/>
          <p:nvPr/>
        </p:nvSpPr>
        <p:spPr>
          <a:xfrm>
            <a:off x="4709160" y="137160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4983480" y="1536192"/>
            <a:ext cx="32918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BASELINE</a:t>
            </a:r>
            <a:endParaRPr lang="en-US" sz="1100" dirty="0"/>
          </a:p>
        </p:txBody>
      </p:sp>
      <p:sp>
        <p:nvSpPr>
          <p:cNvPr id="12" name="Text 9"/>
          <p:cNvSpPr txBox="1"/>
          <p:nvPr/>
        </p:nvSpPr>
        <p:spPr>
          <a:xfrm>
            <a:off x="4983480" y="1801368"/>
            <a:ext cx="3383280" cy="365760"/>
          </a:xfrm>
          <a:prstGeom prst="rect">
            <a:avLst/>
          </a:prstGeom>
          <a:noFill/>
          <a:ln/>
        </p:spPr>
        <p:txBody>
          <a:bodyPr wrap="square" lIns="0" tIns="0" rIns="0" bIns="0" rtlCol="0" anchor="t"/>
          <a:lstStyle/>
          <a:p>
            <a:pPr indent="0" marL="0">
              <a:buNone/>
            </a:pPr>
            <a:r>
              <a:rPr lang="en-US" sz="1900" b="1" dirty="0">
                <a:solidFill>
                  <a:srgbClr val="0B1F2A"/>
                </a:solidFill>
                <a:latin typeface="Calibri" pitchFamily="34" charset="0"/>
                <a:ea typeface="Calibri" pitchFamily="34" charset="-122"/>
                <a:cs typeface="Calibri" pitchFamily="34" charset="-120"/>
              </a:rPr>
              <a:t>CNN, 4 classes</a:t>
            </a:r>
            <a:endParaRPr lang="en-US" sz="1900" dirty="0"/>
          </a:p>
        </p:txBody>
      </p:sp>
      <p:sp>
        <p:nvSpPr>
          <p:cNvPr id="13" name="Text 10"/>
          <p:cNvSpPr txBox="1"/>
          <p:nvPr/>
        </p:nvSpPr>
        <p:spPr>
          <a:xfrm>
            <a:off x="4983480" y="2212848"/>
            <a:ext cx="3383280" cy="50292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Healthy, inner-race, rolling-element, outer-race.</a:t>
            </a:r>
            <a:endParaRPr lang="en-US" sz="1400" dirty="0"/>
          </a:p>
        </p:txBody>
      </p:sp>
      <p:sp>
        <p:nvSpPr>
          <p:cNvPr id="14" name="Shape 11"/>
          <p:cNvSpPr/>
          <p:nvPr/>
        </p:nvSpPr>
        <p:spPr>
          <a:xfrm>
            <a:off x="548640" y="301752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822960" y="3182112"/>
            <a:ext cx="3291840" cy="228600"/>
          </a:xfrm>
          <a:prstGeom prst="rect">
            <a:avLst/>
          </a:prstGeom>
          <a:noFill/>
          <a:ln/>
        </p:spPr>
        <p:txBody>
          <a:bodyPr wrap="square" lIns="0" tIns="0" rIns="0" bIns="0" rtlCol="0" anchor="t"/>
          <a:lstStyle/>
          <a:p>
            <a:pPr indent="0" marL="0">
              <a:buNone/>
            </a:pPr>
            <a:r>
              <a:rPr lang="en-US" sz="1100" b="1" spc="200" kern="0" dirty="0">
                <a:solidFill>
                  <a:srgbClr val="0E7C86"/>
                </a:solidFill>
                <a:latin typeface="Calibri" pitchFamily="34" charset="0"/>
                <a:ea typeface="Calibri" pitchFamily="34" charset="-122"/>
                <a:cs typeface="Calibri" pitchFamily="34" charset="-120"/>
              </a:rPr>
              <a:t>ADAPTATION</a:t>
            </a:r>
            <a:endParaRPr lang="en-US" sz="1100" dirty="0"/>
          </a:p>
        </p:txBody>
      </p:sp>
      <p:sp>
        <p:nvSpPr>
          <p:cNvPr id="16" name="Text 13"/>
          <p:cNvSpPr txBox="1"/>
          <p:nvPr/>
        </p:nvSpPr>
        <p:spPr>
          <a:xfrm>
            <a:off x="822960" y="3447288"/>
            <a:ext cx="3383280" cy="365760"/>
          </a:xfrm>
          <a:prstGeom prst="rect">
            <a:avLst/>
          </a:prstGeom>
          <a:noFill/>
          <a:ln/>
        </p:spPr>
        <p:txBody>
          <a:bodyPr wrap="square" lIns="0" tIns="0" rIns="0" bIns="0" rtlCol="0" anchor="t"/>
          <a:lstStyle/>
          <a:p>
            <a:pPr indent="0" marL="0">
              <a:buNone/>
            </a:pPr>
            <a:r>
              <a:rPr lang="en-US" sz="1900" b="1" dirty="0">
                <a:solidFill>
                  <a:srgbClr val="0B1F2A"/>
                </a:solidFill>
                <a:latin typeface="Calibri" pitchFamily="34" charset="0"/>
                <a:ea typeface="Calibri" pitchFamily="34" charset="-122"/>
                <a:cs typeface="Calibri" pitchFamily="34" charset="-120"/>
              </a:rPr>
              <a:t>Teacher–student loop</a:t>
            </a:r>
            <a:endParaRPr lang="en-US" sz="1900" dirty="0"/>
          </a:p>
        </p:txBody>
      </p:sp>
      <p:sp>
        <p:nvSpPr>
          <p:cNvPr id="17" name="Text 14"/>
          <p:cNvSpPr txBox="1"/>
          <p:nvPr/>
        </p:nvSpPr>
        <p:spPr>
          <a:xfrm>
            <a:off x="822960" y="3858768"/>
            <a:ext cx="3383280" cy="502920"/>
          </a:xfrm>
          <a:prstGeom prst="rect">
            <a:avLst/>
          </a:prstGeom>
          <a:noFill/>
          <a:ln/>
        </p:spPr>
        <p:txBody>
          <a:bodyPr wrap="square" lIns="0" tIns="0" rIns="0" bIns="0" rtlCol="0" anchor="t"/>
          <a:lstStyle/>
          <a:p>
            <a:pPr indent="0" marL="0">
              <a:buNone/>
            </a:pPr>
            <a:r>
              <a:rPr lang="en-US" sz="1400" dirty="0">
                <a:solidFill>
                  <a:srgbClr val="5B7083"/>
                </a:solidFill>
                <a:latin typeface="Calibri" pitchFamily="34" charset="0"/>
                <a:ea typeface="Calibri" pitchFamily="34" charset="-122"/>
                <a:cs typeface="Calibri" pitchFamily="34" charset="-120"/>
              </a:rPr>
              <a:t>EMA teacher with confidence-based pseudo-labels.</a:t>
            </a:r>
            <a:endParaRPr lang="en-US" sz="1400" dirty="0"/>
          </a:p>
        </p:txBody>
      </p:sp>
      <p:sp>
        <p:nvSpPr>
          <p:cNvPr id="18" name="Shape 15"/>
          <p:cNvSpPr/>
          <p:nvPr/>
        </p:nvSpPr>
        <p:spPr>
          <a:xfrm>
            <a:off x="4709160" y="3017520"/>
            <a:ext cx="3886200" cy="1417320"/>
          </a:xfrm>
          <a:prstGeom prst="roundRect">
            <a:avLst>
              <a:gd name="adj" fmla="val 7742"/>
            </a:avLst>
          </a:prstGeom>
          <a:solidFill>
            <a:srgbClr val="0B1F2A"/>
          </a:solidFill>
          <a:ln w="12700">
            <a:solidFill>
              <a:srgbClr val="0B1F2A"/>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4983480" y="3182112"/>
            <a:ext cx="3291840" cy="228600"/>
          </a:xfrm>
          <a:prstGeom prst="rect">
            <a:avLst/>
          </a:prstGeom>
          <a:noFill/>
          <a:ln/>
        </p:spPr>
        <p:txBody>
          <a:bodyPr wrap="square" lIns="0" tIns="0" rIns="0" bIns="0" rtlCol="0" anchor="t"/>
          <a:lstStyle/>
          <a:p>
            <a:pPr indent="0" marL="0">
              <a:buNone/>
            </a:pPr>
            <a:r>
              <a:rPr lang="en-US" sz="1100" b="1" spc="200" kern="0" dirty="0">
                <a:solidFill>
                  <a:srgbClr val="F2A33A"/>
                </a:solidFill>
                <a:latin typeface="Calibri" pitchFamily="34" charset="0"/>
                <a:ea typeface="Calibri" pitchFamily="34" charset="-122"/>
                <a:cs typeface="Calibri" pitchFamily="34" charset="-120"/>
              </a:rPr>
              <a:t>EVALUATION</a:t>
            </a:r>
            <a:endParaRPr lang="en-US" sz="1100" dirty="0"/>
          </a:p>
        </p:txBody>
      </p:sp>
      <p:sp>
        <p:nvSpPr>
          <p:cNvPr id="20" name="Text 17"/>
          <p:cNvSpPr txBox="1"/>
          <p:nvPr/>
        </p:nvSpPr>
        <p:spPr>
          <a:xfrm>
            <a:off x="4983480" y="3447288"/>
            <a:ext cx="3383280" cy="36576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Zero target labels</a:t>
            </a:r>
            <a:endParaRPr lang="en-US" sz="1900" dirty="0"/>
          </a:p>
        </p:txBody>
      </p:sp>
      <p:sp>
        <p:nvSpPr>
          <p:cNvPr id="21" name="Text 18"/>
          <p:cNvSpPr txBox="1"/>
          <p:nvPr/>
        </p:nvSpPr>
        <p:spPr>
          <a:xfrm>
            <a:off x="4983480" y="3858768"/>
            <a:ext cx="3383280" cy="502920"/>
          </a:xfrm>
          <a:prstGeom prst="rect">
            <a:avLst/>
          </a:prstGeom>
          <a:noFill/>
          <a:ln/>
        </p:spPr>
        <p:txBody>
          <a:bodyPr wrap="square" lIns="0" tIns="0" rIns="0" bIns="0" rtlCol="0" anchor="t"/>
          <a:lstStyle/>
          <a:p>
            <a:pPr indent="0" marL="0">
              <a:buNone/>
            </a:pPr>
            <a:r>
              <a:rPr lang="en-US" sz="1400" dirty="0">
                <a:solidFill>
                  <a:srgbClr val="CFE3E8"/>
                </a:solidFill>
                <a:latin typeface="Calibri" pitchFamily="34" charset="0"/>
                <a:ea typeface="Calibri" pitchFamily="34" charset="-122"/>
                <a:cs typeface="Calibri" pitchFamily="34" charset="-120"/>
              </a:rPr>
              <a:t>Used only for the final test, never in training.</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0B1F2A"/>
                </a:solidFill>
                <a:latin typeface="Cambria" pitchFamily="34" charset="0"/>
                <a:ea typeface="Cambria" pitchFamily="34" charset="-122"/>
                <a:cs typeface="Cambria" pitchFamily="34" charset="-120"/>
              </a:rPr>
              <a:t>Key literature</a:t>
            </a:r>
            <a:endParaRPr lang="en-US" sz="3400" dirty="0"/>
          </a:p>
        </p:txBody>
      </p:sp>
      <p:sp>
        <p:nvSpPr>
          <p:cNvPr id="3" name="Text 1"/>
          <p:cNvSpPr txBox="1"/>
          <p:nvPr/>
        </p:nvSpPr>
        <p:spPr>
          <a:xfrm>
            <a:off x="548640" y="4709160"/>
            <a:ext cx="4572000" cy="228600"/>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Zero presentation  ·  Ata Göker</a:t>
            </a:r>
            <a:endParaRPr lang="en-US" sz="1000" dirty="0"/>
          </a:p>
        </p:txBody>
      </p:sp>
      <p:sp>
        <p:nvSpPr>
          <p:cNvPr id="4" name="Text 2"/>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0E7C86"/>
                </a:solidFill>
                <a:latin typeface="Calibri" pitchFamily="34" charset="0"/>
                <a:ea typeface="Calibri" pitchFamily="34" charset="-122"/>
                <a:cs typeface="Calibri" pitchFamily="34" charset="-120"/>
              </a:rPr>
              <a:t>5/6</a:t>
            </a:r>
            <a:endParaRPr lang="en-US" sz="1400" dirty="0"/>
          </a:p>
        </p:txBody>
      </p:sp>
      <p:sp>
        <p:nvSpPr>
          <p:cNvPr id="6" name="Shape 3"/>
          <p:cNvSpPr/>
          <p:nvPr/>
        </p:nvSpPr>
        <p:spPr>
          <a:xfrm>
            <a:off x="548640" y="137160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77240" y="1645920"/>
            <a:ext cx="822960" cy="868680"/>
          </a:xfrm>
          <a:prstGeom prst="roundRect">
            <a:avLst>
              <a:gd name="adj" fmla="val 11111"/>
            </a:avLst>
          </a:prstGeom>
          <a:solidFill>
            <a:srgbClr val="0E7C86"/>
          </a:solidFill>
          <a:ln w="12700">
            <a:solidFill>
              <a:srgbClr val="0E7C86"/>
            </a:solidFill>
            <a:prstDash val="solid"/>
          </a:ln>
        </p:spPr>
      </p:sp>
      <p:sp>
        <p:nvSpPr>
          <p:cNvPr id="8" name="Text 5"/>
          <p:cNvSpPr txBox="1"/>
          <p:nvPr/>
        </p:nvSpPr>
        <p:spPr>
          <a:xfrm>
            <a:off x="777240" y="1645920"/>
            <a:ext cx="82296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2024</a:t>
            </a:r>
            <a:endParaRPr lang="en-US" sz="1800" dirty="0"/>
          </a:p>
        </p:txBody>
      </p:sp>
      <p:sp>
        <p:nvSpPr>
          <p:cNvPr id="9" name="Text 6"/>
          <p:cNvSpPr txBox="1"/>
          <p:nvPr/>
        </p:nvSpPr>
        <p:spPr>
          <a:xfrm>
            <a:off x="1828800" y="1554480"/>
            <a:ext cx="2468880" cy="274320"/>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Forest &amp; Fink</a:t>
            </a:r>
            <a:endParaRPr lang="en-US" sz="1600" dirty="0"/>
          </a:p>
        </p:txBody>
      </p:sp>
      <p:sp>
        <p:nvSpPr>
          <p:cNvPr id="10" name="Text 7"/>
          <p:cNvSpPr txBox="1"/>
          <p:nvPr/>
        </p:nvSpPr>
        <p:spPr>
          <a:xfrm>
            <a:off x="1828800" y="1828800"/>
            <a:ext cx="2468880" cy="228600"/>
          </a:xfrm>
          <a:prstGeom prst="rect">
            <a:avLst/>
          </a:prstGeom>
          <a:noFill/>
          <a:ln/>
        </p:spPr>
        <p:txBody>
          <a:bodyPr wrap="square" lIns="0" tIns="0" rIns="0" bIns="0" rtlCol="0" anchor="t"/>
          <a:lstStyle/>
          <a:p>
            <a:pPr indent="0" marL="0">
              <a:buNone/>
            </a:pPr>
            <a:r>
              <a:rPr lang="en-US" sz="1100" i="1" dirty="0">
                <a:solidFill>
                  <a:srgbClr val="5B7083"/>
                </a:solidFill>
                <a:latin typeface="Calibri" pitchFamily="34" charset="0"/>
                <a:ea typeface="Calibri" pitchFamily="34" charset="-122"/>
                <a:cs typeface="Calibri" pitchFamily="34" charset="-120"/>
              </a:rPr>
              <a:t>Sensors 24(23), 2024</a:t>
            </a:r>
            <a:endParaRPr lang="en-US" sz="1100" dirty="0"/>
          </a:p>
        </p:txBody>
      </p:sp>
      <p:sp>
        <p:nvSpPr>
          <p:cNvPr id="11" name="Text 8"/>
          <p:cNvSpPr txBox="1"/>
          <p:nvPr/>
        </p:nvSpPr>
        <p:spPr>
          <a:xfrm>
            <a:off x="1828800" y="2103120"/>
            <a:ext cx="2468880" cy="594360"/>
          </a:xfrm>
          <a:prstGeom prst="rect">
            <a:avLst/>
          </a:prstGeom>
          <a:noFill/>
          <a:ln/>
        </p:spPr>
        <p:txBody>
          <a:bodyPr wrap="square" lIns="0" tIns="0" rIns="0" bIns="0" rtlCol="0" anchor="t"/>
          <a:lstStyle/>
          <a:p>
            <a:pPr indent="0" marL="0">
              <a:buNone/>
            </a:pPr>
            <a:r>
              <a:rPr lang="en-US" sz="1400" dirty="0">
                <a:solidFill>
                  <a:srgbClr val="0B1F2A"/>
                </a:solidFill>
                <a:latin typeface="Calibri" pitchFamily="34" charset="0"/>
                <a:ea typeface="Calibri" pitchFamily="34" charset="-122"/>
                <a:cs typeface="Calibri" pitchFamily="34" charset="-120"/>
              </a:rPr>
              <a:t>Calibrated Adaptive Teacher: main method reference</a:t>
            </a:r>
            <a:endParaRPr lang="en-US" sz="1400" dirty="0"/>
          </a:p>
        </p:txBody>
      </p:sp>
      <p:sp>
        <p:nvSpPr>
          <p:cNvPr id="12" name="Shape 9"/>
          <p:cNvSpPr/>
          <p:nvPr/>
        </p:nvSpPr>
        <p:spPr>
          <a:xfrm>
            <a:off x="4709160" y="137160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Shape 10"/>
          <p:cNvSpPr/>
          <p:nvPr/>
        </p:nvSpPr>
        <p:spPr>
          <a:xfrm>
            <a:off x="4937760" y="1645920"/>
            <a:ext cx="822960" cy="868680"/>
          </a:xfrm>
          <a:prstGeom prst="roundRect">
            <a:avLst>
              <a:gd name="adj" fmla="val 11111"/>
            </a:avLst>
          </a:prstGeom>
          <a:solidFill>
            <a:srgbClr val="0E7C86"/>
          </a:solidFill>
          <a:ln w="12700">
            <a:solidFill>
              <a:srgbClr val="0E7C86"/>
            </a:solidFill>
            <a:prstDash val="solid"/>
          </a:ln>
        </p:spPr>
      </p:sp>
      <p:sp>
        <p:nvSpPr>
          <p:cNvPr id="14" name="Text 11"/>
          <p:cNvSpPr txBox="1"/>
          <p:nvPr/>
        </p:nvSpPr>
        <p:spPr>
          <a:xfrm>
            <a:off x="4937760" y="1645920"/>
            <a:ext cx="82296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2024</a:t>
            </a:r>
            <a:endParaRPr lang="en-US" sz="1800" dirty="0"/>
          </a:p>
        </p:txBody>
      </p:sp>
      <p:sp>
        <p:nvSpPr>
          <p:cNvPr id="15" name="Text 12"/>
          <p:cNvSpPr txBox="1"/>
          <p:nvPr/>
        </p:nvSpPr>
        <p:spPr>
          <a:xfrm>
            <a:off x="5989320" y="1554480"/>
            <a:ext cx="2468880" cy="274320"/>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Yu et al.</a:t>
            </a:r>
            <a:endParaRPr lang="en-US" sz="1600" dirty="0"/>
          </a:p>
        </p:txBody>
      </p:sp>
      <p:sp>
        <p:nvSpPr>
          <p:cNvPr id="16" name="Text 13"/>
          <p:cNvSpPr txBox="1"/>
          <p:nvPr/>
        </p:nvSpPr>
        <p:spPr>
          <a:xfrm>
            <a:off x="5989320" y="1828800"/>
            <a:ext cx="2468880" cy="228600"/>
          </a:xfrm>
          <a:prstGeom prst="rect">
            <a:avLst/>
          </a:prstGeom>
          <a:noFill/>
          <a:ln/>
        </p:spPr>
        <p:txBody>
          <a:bodyPr wrap="square" lIns="0" tIns="0" rIns="0" bIns="0" rtlCol="0" anchor="t"/>
          <a:lstStyle/>
          <a:p>
            <a:pPr indent="0" marL="0">
              <a:buNone/>
            </a:pPr>
            <a:r>
              <a:rPr lang="en-US" sz="1100" i="1" dirty="0">
                <a:solidFill>
                  <a:srgbClr val="5B7083"/>
                </a:solidFill>
                <a:latin typeface="Calibri" pitchFamily="34" charset="0"/>
                <a:ea typeface="Calibri" pitchFamily="34" charset="-122"/>
                <a:cs typeface="Calibri" pitchFamily="34" charset="-120"/>
              </a:rPr>
              <a:t>Reliab. Eng. Syst. Saf. 248, 2024</a:t>
            </a:r>
            <a:endParaRPr lang="en-US" sz="1100" dirty="0"/>
          </a:p>
        </p:txBody>
      </p:sp>
      <p:sp>
        <p:nvSpPr>
          <p:cNvPr id="17" name="Text 14"/>
          <p:cNvSpPr txBox="1"/>
          <p:nvPr/>
        </p:nvSpPr>
        <p:spPr>
          <a:xfrm>
            <a:off x="5989320" y="2103120"/>
            <a:ext cx="2468880" cy="594360"/>
          </a:xfrm>
          <a:prstGeom prst="rect">
            <a:avLst/>
          </a:prstGeom>
          <a:noFill/>
          <a:ln/>
        </p:spPr>
        <p:txBody>
          <a:bodyPr wrap="square" lIns="0" tIns="0" rIns="0" bIns="0" rtlCol="0" anchor="t"/>
          <a:lstStyle/>
          <a:p>
            <a:pPr indent="0" marL="0">
              <a:buNone/>
            </a:pPr>
            <a:r>
              <a:rPr lang="en-US" sz="1400" dirty="0">
                <a:solidFill>
                  <a:srgbClr val="0B1F2A"/>
                </a:solidFill>
                <a:latin typeface="Calibri" pitchFamily="34" charset="0"/>
                <a:ea typeface="Calibri" pitchFamily="34" charset="-122"/>
                <a:cs typeface="Calibri" pitchFamily="34" charset="-120"/>
              </a:rPr>
              <a:t>Source-free adaptation: deployment without source data</a:t>
            </a:r>
            <a:endParaRPr lang="en-US" sz="1400" dirty="0"/>
          </a:p>
        </p:txBody>
      </p:sp>
      <p:sp>
        <p:nvSpPr>
          <p:cNvPr id="18" name="Shape 15"/>
          <p:cNvSpPr/>
          <p:nvPr/>
        </p:nvSpPr>
        <p:spPr>
          <a:xfrm>
            <a:off x="548640" y="301752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777240" y="3291840"/>
            <a:ext cx="822960" cy="868680"/>
          </a:xfrm>
          <a:prstGeom prst="roundRect">
            <a:avLst>
              <a:gd name="adj" fmla="val 11111"/>
            </a:avLst>
          </a:prstGeom>
          <a:solidFill>
            <a:srgbClr val="5B7083"/>
          </a:solidFill>
          <a:ln w="12700">
            <a:solidFill>
              <a:srgbClr val="5B7083"/>
            </a:solidFill>
            <a:prstDash val="solid"/>
          </a:ln>
        </p:spPr>
      </p:sp>
      <p:sp>
        <p:nvSpPr>
          <p:cNvPr id="20" name="Text 17"/>
          <p:cNvSpPr txBox="1"/>
          <p:nvPr/>
        </p:nvSpPr>
        <p:spPr>
          <a:xfrm>
            <a:off x="777240" y="3291840"/>
            <a:ext cx="82296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2017</a:t>
            </a:r>
            <a:endParaRPr lang="en-US" sz="1800" dirty="0"/>
          </a:p>
        </p:txBody>
      </p:sp>
      <p:sp>
        <p:nvSpPr>
          <p:cNvPr id="21" name="Text 18"/>
          <p:cNvSpPr txBox="1"/>
          <p:nvPr/>
        </p:nvSpPr>
        <p:spPr>
          <a:xfrm>
            <a:off x="1828800" y="3200400"/>
            <a:ext cx="2468880" cy="274320"/>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Tarvainen &amp; Valpola</a:t>
            </a:r>
            <a:endParaRPr lang="en-US" sz="1600" dirty="0"/>
          </a:p>
        </p:txBody>
      </p:sp>
      <p:sp>
        <p:nvSpPr>
          <p:cNvPr id="22" name="Text 19"/>
          <p:cNvSpPr txBox="1"/>
          <p:nvPr/>
        </p:nvSpPr>
        <p:spPr>
          <a:xfrm>
            <a:off x="1828800" y="3474720"/>
            <a:ext cx="2468880" cy="228600"/>
          </a:xfrm>
          <a:prstGeom prst="rect">
            <a:avLst/>
          </a:prstGeom>
          <a:noFill/>
          <a:ln/>
        </p:spPr>
        <p:txBody>
          <a:bodyPr wrap="square" lIns="0" tIns="0" rIns="0" bIns="0" rtlCol="0" anchor="t"/>
          <a:lstStyle/>
          <a:p>
            <a:pPr indent="0" marL="0">
              <a:buNone/>
            </a:pPr>
            <a:r>
              <a:rPr lang="en-US" sz="1100" i="1" dirty="0">
                <a:solidFill>
                  <a:srgbClr val="5B7083"/>
                </a:solidFill>
                <a:latin typeface="Calibri" pitchFamily="34" charset="0"/>
                <a:ea typeface="Calibri" pitchFamily="34" charset="-122"/>
                <a:cs typeface="Calibri" pitchFamily="34" charset="-120"/>
              </a:rPr>
              <a:t>NeurIPS 2017</a:t>
            </a:r>
            <a:endParaRPr lang="en-US" sz="1100" dirty="0"/>
          </a:p>
        </p:txBody>
      </p:sp>
      <p:sp>
        <p:nvSpPr>
          <p:cNvPr id="23" name="Text 20"/>
          <p:cNvSpPr txBox="1"/>
          <p:nvPr/>
        </p:nvSpPr>
        <p:spPr>
          <a:xfrm>
            <a:off x="1828800" y="3749040"/>
            <a:ext cx="2468880" cy="594360"/>
          </a:xfrm>
          <a:prstGeom prst="rect">
            <a:avLst/>
          </a:prstGeom>
          <a:noFill/>
          <a:ln/>
        </p:spPr>
        <p:txBody>
          <a:bodyPr wrap="square" lIns="0" tIns="0" rIns="0" bIns="0" rtlCol="0" anchor="t"/>
          <a:lstStyle/>
          <a:p>
            <a:pPr indent="0" marL="0">
              <a:buNone/>
            </a:pPr>
            <a:r>
              <a:rPr lang="en-US" sz="1400" dirty="0">
                <a:solidFill>
                  <a:srgbClr val="0B1F2A"/>
                </a:solidFill>
                <a:latin typeface="Calibri" pitchFamily="34" charset="0"/>
                <a:ea typeface="Calibri" pitchFamily="34" charset="-122"/>
                <a:cs typeface="Calibri" pitchFamily="34" charset="-120"/>
              </a:rPr>
              <a:t>Mean Teacher: the weight-averaged teacher</a:t>
            </a:r>
            <a:endParaRPr lang="en-US" sz="1400" dirty="0"/>
          </a:p>
        </p:txBody>
      </p:sp>
      <p:sp>
        <p:nvSpPr>
          <p:cNvPr id="24" name="Shape 21"/>
          <p:cNvSpPr/>
          <p:nvPr/>
        </p:nvSpPr>
        <p:spPr>
          <a:xfrm>
            <a:off x="4709160" y="3017520"/>
            <a:ext cx="388620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5" name="Shape 22"/>
          <p:cNvSpPr/>
          <p:nvPr/>
        </p:nvSpPr>
        <p:spPr>
          <a:xfrm>
            <a:off x="4937760" y="3291840"/>
            <a:ext cx="822960" cy="868680"/>
          </a:xfrm>
          <a:prstGeom prst="roundRect">
            <a:avLst>
              <a:gd name="adj" fmla="val 11111"/>
            </a:avLst>
          </a:prstGeom>
          <a:solidFill>
            <a:srgbClr val="5B7083"/>
          </a:solidFill>
          <a:ln w="12700">
            <a:solidFill>
              <a:srgbClr val="5B7083"/>
            </a:solidFill>
            <a:prstDash val="solid"/>
          </a:ln>
        </p:spPr>
      </p:sp>
      <p:sp>
        <p:nvSpPr>
          <p:cNvPr id="26" name="Text 23"/>
          <p:cNvSpPr txBox="1"/>
          <p:nvPr/>
        </p:nvSpPr>
        <p:spPr>
          <a:xfrm>
            <a:off x="4937760" y="3291840"/>
            <a:ext cx="82296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2015</a:t>
            </a:r>
            <a:endParaRPr lang="en-US" sz="1800" dirty="0"/>
          </a:p>
        </p:txBody>
      </p:sp>
      <p:sp>
        <p:nvSpPr>
          <p:cNvPr id="27" name="Text 24"/>
          <p:cNvSpPr txBox="1"/>
          <p:nvPr/>
        </p:nvSpPr>
        <p:spPr>
          <a:xfrm>
            <a:off x="5989320" y="3200400"/>
            <a:ext cx="2468880" cy="274320"/>
          </a:xfrm>
          <a:prstGeom prst="rect">
            <a:avLst/>
          </a:prstGeom>
          <a:noFill/>
          <a:ln/>
        </p:spPr>
        <p:txBody>
          <a:bodyPr wrap="square" lIns="0" tIns="0" rIns="0" bIns="0" rtlCol="0" anchor="t"/>
          <a:lstStyle/>
          <a:p>
            <a:pPr indent="0" marL="0">
              <a:buNone/>
            </a:pPr>
            <a:r>
              <a:rPr lang="en-US" sz="1600" b="1" dirty="0">
                <a:solidFill>
                  <a:srgbClr val="0B1F2A"/>
                </a:solidFill>
                <a:latin typeface="Calibri" pitchFamily="34" charset="0"/>
                <a:ea typeface="Calibri" pitchFamily="34" charset="-122"/>
                <a:cs typeface="Calibri" pitchFamily="34" charset="-120"/>
              </a:rPr>
              <a:t>Smith &amp; Randall</a:t>
            </a:r>
            <a:endParaRPr lang="en-US" sz="1600" dirty="0"/>
          </a:p>
        </p:txBody>
      </p:sp>
      <p:sp>
        <p:nvSpPr>
          <p:cNvPr id="28" name="Text 25"/>
          <p:cNvSpPr txBox="1"/>
          <p:nvPr/>
        </p:nvSpPr>
        <p:spPr>
          <a:xfrm>
            <a:off x="5989320" y="3474720"/>
            <a:ext cx="2468880" cy="228600"/>
          </a:xfrm>
          <a:prstGeom prst="rect">
            <a:avLst/>
          </a:prstGeom>
          <a:noFill/>
          <a:ln/>
        </p:spPr>
        <p:txBody>
          <a:bodyPr wrap="square" lIns="0" tIns="0" rIns="0" bIns="0" rtlCol="0" anchor="t"/>
          <a:lstStyle/>
          <a:p>
            <a:pPr indent="0" marL="0">
              <a:buNone/>
            </a:pPr>
            <a:r>
              <a:rPr lang="en-US" sz="1100" i="1" dirty="0">
                <a:solidFill>
                  <a:srgbClr val="5B7083"/>
                </a:solidFill>
                <a:latin typeface="Calibri" pitchFamily="34" charset="0"/>
                <a:ea typeface="Calibri" pitchFamily="34" charset="-122"/>
                <a:cs typeface="Calibri" pitchFamily="34" charset="-120"/>
              </a:rPr>
              <a:t>Mech. Syst. Signal Process., 2015</a:t>
            </a:r>
            <a:endParaRPr lang="en-US" sz="1100" dirty="0"/>
          </a:p>
        </p:txBody>
      </p:sp>
      <p:sp>
        <p:nvSpPr>
          <p:cNvPr id="29" name="Text 26"/>
          <p:cNvSpPr txBox="1"/>
          <p:nvPr/>
        </p:nvSpPr>
        <p:spPr>
          <a:xfrm>
            <a:off x="5989320" y="3749040"/>
            <a:ext cx="2468880" cy="594360"/>
          </a:xfrm>
          <a:prstGeom prst="rect">
            <a:avLst/>
          </a:prstGeom>
          <a:noFill/>
          <a:ln/>
        </p:spPr>
        <p:txBody>
          <a:bodyPr wrap="square" lIns="0" tIns="0" rIns="0" bIns="0" rtlCol="0" anchor="t"/>
          <a:lstStyle/>
          <a:p>
            <a:pPr indent="0" marL="0">
              <a:buNone/>
            </a:pPr>
            <a:r>
              <a:rPr lang="en-US" sz="1400" dirty="0">
                <a:solidFill>
                  <a:srgbClr val="0B1F2A"/>
                </a:solidFill>
                <a:latin typeface="Calibri" pitchFamily="34" charset="0"/>
                <a:ea typeface="Calibri" pitchFamily="34" charset="-122"/>
                <a:cs typeface="Calibri" pitchFamily="34" charset="-120"/>
              </a:rPr>
              <a:t>CWRU benchmark study: data anomalies</a:t>
            </a:r>
            <a:endParaRPr lang="en-US" sz="1400" dirty="0"/>
          </a:p>
        </p:txBody>
      </p:sp>
      <p:sp>
        <p:nvSpPr>
          <p:cNvPr id="30" name="Text 27"/>
          <p:cNvSpPr txBox="1"/>
          <p:nvPr/>
        </p:nvSpPr>
        <p:spPr>
          <a:xfrm>
            <a:off x="548640" y="4480560"/>
            <a:ext cx="5486400" cy="201168"/>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Teal: papers selected with my supervisor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731520"/>
          </a:xfrm>
          <a:prstGeom prst="rect">
            <a:avLst/>
          </a:prstGeom>
          <a:noFill/>
          <a:ln/>
        </p:spPr>
        <p:txBody>
          <a:bodyPr wrap="square" lIns="0" tIns="0" rIns="0" bIns="0" rtlCol="0" anchor="ctr"/>
          <a:lstStyle/>
          <a:p>
            <a:pPr indent="0" marL="0">
              <a:buNone/>
            </a:pPr>
            <a:r>
              <a:rPr lang="en-US" sz="3400" b="1" dirty="0">
                <a:solidFill>
                  <a:srgbClr val="0B1F2A"/>
                </a:solidFill>
                <a:latin typeface="Cambria" pitchFamily="34" charset="0"/>
                <a:ea typeface="Cambria" pitchFamily="34" charset="-122"/>
                <a:cs typeface="Cambria" pitchFamily="34" charset="-120"/>
              </a:rPr>
              <a:t>State of progress</a:t>
            </a:r>
            <a:endParaRPr lang="en-US" sz="3400" dirty="0"/>
          </a:p>
        </p:txBody>
      </p:sp>
      <p:sp>
        <p:nvSpPr>
          <p:cNvPr id="3" name="Text 1"/>
          <p:cNvSpPr txBox="1"/>
          <p:nvPr/>
        </p:nvSpPr>
        <p:spPr>
          <a:xfrm>
            <a:off x="548640" y="4709160"/>
            <a:ext cx="4572000" cy="228600"/>
          </a:xfrm>
          <a:prstGeom prst="rect">
            <a:avLst/>
          </a:prstGeom>
          <a:noFill/>
          <a:ln/>
        </p:spPr>
        <p:txBody>
          <a:bodyPr wrap="square" lIns="0" tIns="0" rIns="0" bIns="0" rtlCol="0" anchor="t"/>
          <a:lstStyle/>
          <a:p>
            <a:pPr indent="0" marL="0">
              <a:buNone/>
            </a:pPr>
            <a:r>
              <a:rPr lang="en-US" sz="1000" dirty="0">
                <a:solidFill>
                  <a:srgbClr val="5B7083"/>
                </a:solidFill>
                <a:latin typeface="Calibri" pitchFamily="34" charset="0"/>
                <a:ea typeface="Calibri" pitchFamily="34" charset="-122"/>
                <a:cs typeface="Calibri" pitchFamily="34" charset="-120"/>
              </a:rPr>
              <a:t>Zero presentation  ·  Ata Göker</a:t>
            </a:r>
            <a:endParaRPr lang="en-US" sz="1000" dirty="0"/>
          </a:p>
        </p:txBody>
      </p:sp>
      <p:sp>
        <p:nvSpPr>
          <p:cNvPr id="4" name="Text 2"/>
          <p:cNvSpPr txBox="1"/>
          <p:nvPr/>
        </p:nvSpPr>
        <p:spPr>
          <a:xfrm>
            <a:off x="7680960" y="4663440"/>
            <a:ext cx="914400" cy="274320"/>
          </a:xfrm>
          <a:prstGeom prst="rect">
            <a:avLst/>
          </a:prstGeom>
          <a:noFill/>
          <a:ln/>
        </p:spPr>
        <p:txBody>
          <a:bodyPr wrap="square" lIns="0" tIns="0" rIns="0" bIns="0" rtlCol="0" anchor="t"/>
          <a:lstStyle/>
          <a:p>
            <a:pPr algn="r" indent="0" marL="0">
              <a:buNone/>
            </a:pPr>
            <a:r>
              <a:rPr lang="en-US" sz="1400" b="1" dirty="0">
                <a:solidFill>
                  <a:srgbClr val="0E7C86"/>
                </a:solidFill>
                <a:latin typeface="Calibri" pitchFamily="34" charset="0"/>
                <a:ea typeface="Calibri" pitchFamily="34" charset="-122"/>
                <a:cs typeface="Calibri" pitchFamily="34" charset="-120"/>
              </a:rPr>
              <a:t>6/6</a:t>
            </a:r>
            <a:endParaRPr lang="en-US" sz="1400" dirty="0"/>
          </a:p>
        </p:txBody>
      </p:sp>
      <p:sp>
        <p:nvSpPr>
          <p:cNvPr id="6" name="Shape 3"/>
          <p:cNvSpPr/>
          <p:nvPr/>
        </p:nvSpPr>
        <p:spPr>
          <a:xfrm>
            <a:off x="548640" y="137160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777240" y="1572768"/>
            <a:ext cx="1371600" cy="329184"/>
          </a:xfrm>
          <a:prstGeom prst="roundRect">
            <a:avLst>
              <a:gd name="adj" fmla="val 50000"/>
            </a:avLst>
          </a:prstGeom>
          <a:solidFill>
            <a:srgbClr val="0E7C86"/>
          </a:solidFill>
          <a:ln w="12700">
            <a:solidFill>
              <a:srgbClr val="0E7C86"/>
            </a:solidFill>
            <a:prstDash val="solid"/>
          </a:ln>
        </p:spPr>
      </p:sp>
      <p:sp>
        <p:nvSpPr>
          <p:cNvPr id="8" name="Text 5"/>
          <p:cNvSpPr txBox="1"/>
          <p:nvPr/>
        </p:nvSpPr>
        <p:spPr>
          <a:xfrm>
            <a:off x="777240" y="1572768"/>
            <a:ext cx="137160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DONE</a:t>
            </a:r>
            <a:endParaRPr lang="en-US" sz="1200" dirty="0"/>
          </a:p>
        </p:txBody>
      </p:sp>
      <p:sp>
        <p:nvSpPr>
          <p:cNvPr id="9" name="Text 6"/>
          <p:cNvSpPr txBox="1"/>
          <p:nvPr/>
        </p:nvSpPr>
        <p:spPr>
          <a:xfrm>
            <a:off x="777240" y="2103120"/>
            <a:ext cx="20574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Theoretical groundwork and literature review</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Experimental matrix and evaluation protocol</a:t>
            </a:r>
            <a:endParaRPr lang="en-US" sz="1400" dirty="0"/>
          </a:p>
        </p:txBody>
      </p:sp>
      <p:sp>
        <p:nvSpPr>
          <p:cNvPr id="10" name="Shape 7"/>
          <p:cNvSpPr/>
          <p:nvPr/>
        </p:nvSpPr>
        <p:spPr>
          <a:xfrm>
            <a:off x="3337560" y="137160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3566160" y="1572768"/>
            <a:ext cx="1371600" cy="329184"/>
          </a:xfrm>
          <a:prstGeom prst="roundRect">
            <a:avLst>
              <a:gd name="adj" fmla="val 50000"/>
            </a:avLst>
          </a:prstGeom>
          <a:solidFill>
            <a:srgbClr val="F2A33A"/>
          </a:solidFill>
          <a:ln w="12700">
            <a:solidFill>
              <a:srgbClr val="F2A33A"/>
            </a:solidFill>
            <a:prstDash val="solid"/>
          </a:ln>
        </p:spPr>
      </p:sp>
      <p:sp>
        <p:nvSpPr>
          <p:cNvPr id="12" name="Text 9"/>
          <p:cNvSpPr txBox="1"/>
          <p:nvPr/>
        </p:nvSpPr>
        <p:spPr>
          <a:xfrm>
            <a:off x="3566160" y="1572768"/>
            <a:ext cx="1371600" cy="329184"/>
          </a:xfrm>
          <a:prstGeom prst="rect">
            <a:avLst/>
          </a:prstGeom>
          <a:noFill/>
          <a:ln/>
        </p:spPr>
        <p:txBody>
          <a:bodyPr wrap="square" lIns="0" tIns="0" rIns="0" bIns="0" rtlCol="0" anchor="ctr"/>
          <a:lstStyle/>
          <a:p>
            <a:pPr algn="ctr" indent="0" marL="0">
              <a:buNone/>
            </a:pPr>
            <a:r>
              <a:rPr lang="en-US" sz="1200" b="1" spc="100" kern="0" dirty="0">
                <a:solidFill>
                  <a:srgbClr val="0B1F2A"/>
                </a:solidFill>
                <a:latin typeface="Calibri" pitchFamily="34" charset="0"/>
                <a:ea typeface="Calibri" pitchFamily="34" charset="-122"/>
                <a:cs typeface="Calibri" pitchFamily="34" charset="-120"/>
              </a:rPr>
              <a:t>IN PROGRESS</a:t>
            </a:r>
            <a:endParaRPr lang="en-US" sz="1200" dirty="0"/>
          </a:p>
        </p:txBody>
      </p:sp>
      <p:sp>
        <p:nvSpPr>
          <p:cNvPr id="13" name="Text 10"/>
          <p:cNvSpPr txBox="1"/>
          <p:nvPr/>
        </p:nvSpPr>
        <p:spPr>
          <a:xfrm>
            <a:off x="3566160" y="2103120"/>
            <a:ext cx="20574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Python / PyTorch environment setup</a:t>
            </a:r>
            <a:endParaRPr lang="en-US" sz="1400" dirty="0"/>
          </a:p>
        </p:txBody>
      </p:sp>
      <p:sp>
        <p:nvSpPr>
          <p:cNvPr id="14" name="Shape 11"/>
          <p:cNvSpPr/>
          <p:nvPr/>
        </p:nvSpPr>
        <p:spPr>
          <a:xfrm>
            <a:off x="6126480" y="1371600"/>
            <a:ext cx="2468880" cy="2926080"/>
          </a:xfrm>
          <a:prstGeom prst="roundRect">
            <a:avLst>
              <a:gd name="adj" fmla="val 44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355080" y="1572768"/>
            <a:ext cx="1371600" cy="329184"/>
          </a:xfrm>
          <a:prstGeom prst="roundRect">
            <a:avLst>
              <a:gd name="adj" fmla="val 50000"/>
            </a:avLst>
          </a:prstGeom>
          <a:solidFill>
            <a:srgbClr val="5B7083"/>
          </a:solidFill>
          <a:ln w="12700">
            <a:solidFill>
              <a:srgbClr val="5B7083"/>
            </a:solidFill>
            <a:prstDash val="solid"/>
          </a:ln>
        </p:spPr>
      </p:sp>
      <p:sp>
        <p:nvSpPr>
          <p:cNvPr id="16" name="Text 13"/>
          <p:cNvSpPr txBox="1"/>
          <p:nvPr/>
        </p:nvSpPr>
        <p:spPr>
          <a:xfrm>
            <a:off x="6355080" y="1572768"/>
            <a:ext cx="1371600" cy="329184"/>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NEXT</a:t>
            </a:r>
            <a:endParaRPr lang="en-US" sz="1200" dirty="0"/>
          </a:p>
        </p:txBody>
      </p:sp>
      <p:sp>
        <p:nvSpPr>
          <p:cNvPr id="17" name="Text 14"/>
          <p:cNvSpPr txBox="1"/>
          <p:nvPr/>
        </p:nvSpPr>
        <p:spPr>
          <a:xfrm>
            <a:off x="6355080" y="2103120"/>
            <a:ext cx="205740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Verify raw CWRU data</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Code the baseline CNN</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Add the teacher–student loop</a:t>
            </a:r>
            <a:endParaRPr lang="en-US" sz="1400" dirty="0"/>
          </a:p>
        </p:txBody>
      </p:sp>
      <p:sp>
        <p:nvSpPr>
          <p:cNvPr id="18" name="Text 15"/>
          <p:cNvSpPr txBox="1"/>
          <p:nvPr/>
        </p:nvSpPr>
        <p:spPr>
          <a:xfrm>
            <a:off x="548640" y="4407408"/>
            <a:ext cx="5486400" cy="228600"/>
          </a:xfrm>
          <a:prstGeom prst="rect">
            <a:avLst/>
          </a:prstGeom>
          <a:noFill/>
          <a:ln/>
        </p:spPr>
        <p:txBody>
          <a:bodyPr wrap="square" lIns="0" tIns="0" rIns="0" bIns="0" rtlCol="0" anchor="t"/>
          <a:lstStyle/>
          <a:p>
            <a:pPr indent="0" marL="0">
              <a:buNone/>
            </a:pPr>
            <a:r>
              <a:rPr lang="en-US" sz="1200" dirty="0">
                <a:solidFill>
                  <a:srgbClr val="5B7083"/>
                </a:solidFill>
                <a:latin typeface="Calibri" pitchFamily="34" charset="0"/>
                <a:ea typeface="Calibri" pitchFamily="34" charset="-122"/>
                <a:cs typeface="Calibri" pitchFamily="34" charset="-120"/>
              </a:rPr>
              <a:t>No models trained yet; results will follow.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BSc Thesis Zero Presentation</dc:title>
  <dc:subject>PptxGenJS Presentation</dc:subject>
  <dc:creator>Ata Göker</dc:creator>
  <cp:lastModifiedBy>Ata Göker</cp:lastModifiedBy>
  <cp:revision>1</cp:revision>
  <dcterms:created xsi:type="dcterms:W3CDTF">2026-10-04T22:55:09Z</dcterms:created>
  <dcterms:modified xsi:type="dcterms:W3CDTF">2026-10-04T22:55:09Z</dcterms:modified>
</cp:coreProperties>
</file>